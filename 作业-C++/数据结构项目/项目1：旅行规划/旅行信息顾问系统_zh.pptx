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notesSlides/notesSlide1.xml" Type="http://schemas.openxmlformats.org/officeDocument/2006/relationships/notesSlide"/><Relationship Id="rId17" Target="notesSlides/notesSlide2.xml" Type="http://schemas.openxmlformats.org/officeDocument/2006/relationships/notesSlide"/><Relationship Id="rId18" Target="notesSlides/notesSlide3.xml" Type="http://schemas.openxmlformats.org/officeDocument/2006/relationships/notesSlide"/><Relationship Id="rId19" Target="notesSlides/notesSlide4.xml" Type="http://schemas.openxmlformats.org/officeDocument/2006/relationships/notesSlide"/><Relationship Id="rId2" Target="viewProps.xml" Type="http://schemas.openxmlformats.org/officeDocument/2006/relationships/viewProps"/><Relationship Id="rId20" Target="notesSlides/notesSlide5.xml" Type="http://schemas.openxmlformats.org/officeDocument/2006/relationships/notesSlide"/><Relationship Id="rId21" Target="notesSlides/notesSlide6.xml" Type="http://schemas.openxmlformats.org/officeDocument/2006/relationships/notesSlide"/><Relationship Id="rId22" Target="notesSlides/notesSlide7.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大家好，今天我将向大家介绍我的课程设计项目——旅行信息顾问系统。这个系统旨在帮助用户规划从一个城市到另一个城市的最佳旅行路线。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让我们来了解一下这个项目的基本情况。这是一个旅行信息顾问系统，它的主要功能是为用户提供个性化的出行路线规划。用户只需要输入出发地、目的地，并选择一个偏好，比如最快到达、最省钱或者少换乘，系统就能计算出最佳路线。这个项目的核心技术是图论，我们把城市看作点，把交通线路看作线，从而将问题转化为一个寻找最短路径的经典算法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是数据结构的设计。为了在计算机中表示我们的城市和路线，我选择了图这种数据结构。具体来说，我使用了邻接矩阵来存储图。在这个模型里，每一个城市就是一个“顶点”，我用一个数组来记录所有城市的名字。而城市之间的每一条路线就是一条“边”，我用一个二维数组，也就是矩阵，来记录每两条边之间的详细信息，比如坐飞机要花多少钱、多长时间。这种方式的好处是查询速度非常快，对于我们这个规模的应用来说非常合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算法是这个系统的大脑。我使用的是非常经典的Dijkstra算法，也就是迪杰斯特拉算法，来解决最短路径问题。这个算法本身是为单一权重设计的，但我对它进行了改造，让它能够处理多个目标。具体来说，就是在计算路径的时候，根据用户的不同选择——是想最快、最省钱还是最省事，动态地改变计算“距离”的方式。如果选时间，那就用小时数当权重；如果选成本，就用钱当权重；如果选最少中转，那就把每坐一次车都算1，这样走的次数最少就是最优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理论说完了，我们来看一个实际的运行效果。这里我模拟了一个用户场景：从北京出发去广州，最关心的是钱，所以选择了“最低成本”策略。大家可以看到，系统给出的最优路线是北京 -&gt; 西安 -&gt; 成都 -&gt; 广州，总费用是1000元。这个结果是正确的，因为它避开了昂贵的飞机，选择了性价比更高的火车中转方案。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来客观地评价一下这个系统。它的优点是很明显的：首先，它很通用，一个算法能解决三种不同的问题。其次，它的扩展性很好，未来想加入其他功能，比如按舒适度排序，也相对容易。而且，它的计算结果是精确的，能找到理论上的最优解。当然，它也有一些局限性。比如，它目前只能处理两个城市之间一种交通方式的情况，无法同时选择飞机和高铁。另外，它没有考虑到换乘过程中的等待时间，这在实际旅行中是很重要的。最后，所有的数据都是固定在代码里的，不能实时更新，这也是一个比较大的缺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我的介绍到此结束，感谢大家的观看！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svg" Type="http://schemas.openxmlformats.org/officeDocument/2006/relationships/image"/><Relationship Id="rId11" Target="../notesSlides/notesSlide2.xml" Type="http://schemas.openxmlformats.org/officeDocument/2006/relationships/notesSlid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7.svg" Type="http://schemas.openxmlformats.org/officeDocument/2006/relationships/image"/><Relationship Id="rId11" Target="../media/image4.png" Type="http://schemas.openxmlformats.org/officeDocument/2006/relationships/image"/><Relationship Id="rId12" Target="../media/image5.svg" Type="http://schemas.openxmlformats.org/officeDocument/2006/relationships/image"/><Relationship Id="rId13" Target="../notesSlides/notesSlide4.xml" Type="http://schemas.openxmlformats.org/officeDocument/2006/relationships/notesSlide"/><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7.svg" Type="http://schemas.openxmlformats.org/officeDocument/2006/relationships/image"/><Relationship Id="rId11" Target="../notesSlides/notesSlide6.xml" Type="http://schemas.openxmlformats.org/officeDocument/2006/relationships/notesSlide"/><Relationship Id="rId2" Target="../media/image1.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7.xml" Type="http://schemas.openxmlformats.org/officeDocument/2006/relationships/notesSlide"/><Relationship Id="rId4" Target="../media/image2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111827">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413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200">
                <a:solidFill>
                  <a:srgbClr val="FFFFFF"/>
                </a:solidFill>
                <a:latin typeface="Noto Sans SC"/>
                <a:ea typeface="Noto Sans SC"/>
                <a:cs typeface="Noto Sans SC"/>
                <a:sym typeface="Noto Sans SC"/>
              </a:rPr>
              <a:t>旅行信息顾问系统</a:t>
            </a:r>
            <a:endParaRPr lang="en-US" sz="1100"/>
          </a:p>
        </p:txBody>
      </p:sp>
      <p:cxnSp>
        <p:nvCxnSpPr>
          <p:cNvPr name="Connector 5" id="5"/>
          <p:cNvCxnSpPr/>
          <p:nvPr/>
        </p:nvCxnSpPr>
        <p:spPr>
          <a:xfrm rot="-34376" flipH="false" flipV="false">
            <a:off x="5461032" y="3359150"/>
            <a:ext cx="1270000" cy="12700"/>
          </a:xfrm>
          <a:prstGeom prst="straightConnector1">
            <a:avLst/>
          </a:prstGeom>
          <a:solidFill>
            <a:srgbClr val="DEE0E3">
              <a:alpha val="100000"/>
            </a:srgbClr>
          </a:solidFill>
          <a:ln w="25400" cmpd="sng" cap="flat">
            <a:solidFill>
              <a:srgbClr val="00BFFF">
                <a:alpha val="100000"/>
              </a:srgbClr>
            </a:solidFill>
            <a:prstDash val="solid"/>
            <a:round/>
            <a:headEnd type="none" w="lg" len="lg"/>
            <a:tailEnd type="none" w="lg" len="lg"/>
          </a:ln>
        </p:spPr>
      </p:cxnSp>
      <p:sp>
        <p:nvSpPr>
          <p:cNvPr name="AutoShape 6" id="6"/>
          <p:cNvSpPr/>
          <p:nvPr/>
        </p:nvSpPr>
        <p:spPr>
          <a:xfrm rot="0" flipH="false" flipV="false">
            <a:off x="1016000" y="36195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E5E7EB"/>
                </a:solidFill>
                <a:latin typeface="Noto Sans SC"/>
                <a:ea typeface="Noto Sans SC"/>
                <a:cs typeface="Noto Sans SC"/>
                <a:sym typeface="Noto Sans SC"/>
              </a:rPr>
              <a:t>数据结构与算法课程设计</a:t>
            </a:r>
            <a:endParaRPr lang="en-US" sz="1100"/>
          </a:p>
        </p:txBody>
      </p:sp>
      <p:sp>
        <p:nvSpPr>
          <p:cNvPr name="AutoShape 7" id="7"/>
          <p:cNvSpPr/>
          <p:nvPr/>
        </p:nvSpPr>
        <p:spPr>
          <a:xfrm rot="0" flipH="false" flipV="false">
            <a:off x="3556000" y="4445000"/>
            <a:ext cx="508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9CA3AF"/>
                </a:solidFill>
                <a:latin typeface="Noto Sans SC"/>
                <a:ea typeface="Noto Sans SC"/>
                <a:cs typeface="Noto Sans SC"/>
                <a:sym typeface="Noto Sans SC"/>
              </a:rPr>
              <a:t>汇报人：XXX</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0A14">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762000"/>
            <a:ext cx="5080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Poppins"/>
                <a:ea typeface="Poppins"/>
                <a:cs typeface="Poppins"/>
                <a:sym typeface="Poppins"/>
              </a:rPr>
              <a:t>项目介绍</a:t>
            </a:r>
            <a:endParaRPr lang="en-US" sz="1100"/>
          </a:p>
        </p:txBody>
      </p:sp>
      <p:cxnSp>
        <p:nvCxnSpPr>
          <p:cNvPr name="Connector 5" id="5"/>
          <p:cNvCxnSpPr/>
          <p:nvPr/>
        </p:nvCxnSpPr>
        <p:spPr>
          <a:xfrm rot="-4297" flipH="false" flipV="false">
            <a:off x="1016004" y="1454150"/>
            <a:ext cx="101600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350000" y="1905000"/>
            <a:ext cx="304800" cy="304800"/>
          </a:xfrm>
          <a:prstGeom prst="rect">
            <a:avLst/>
          </a:prstGeom>
        </p:spPr>
      </p:pic>
      <p:sp>
        <p:nvSpPr>
          <p:cNvPr name="AutoShape 7" id="7"/>
          <p:cNvSpPr/>
          <p:nvPr/>
        </p:nvSpPr>
        <p:spPr>
          <a:xfrm rot="0" flipH="false" flipV="false">
            <a:off x="6858000" y="1930400"/>
            <a:ext cx="4572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智能路线规划</a:t>
            </a:r>
            <a:endParaRPr lang="en-US" sz="1100"/>
          </a:p>
        </p:txBody>
      </p:sp>
      <p:sp>
        <p:nvSpPr>
          <p:cNvPr name="AutoShape 8" id="8"/>
          <p:cNvSpPr/>
          <p:nvPr/>
        </p:nvSpPr>
        <p:spPr>
          <a:xfrm rot="0" flipH="false" flipV="false">
            <a:off x="6858000" y="2387600"/>
            <a:ext cx="4572000" cy="8382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根据用户输入的起点、终点及偏好（时间、成本、中转），规划并推荐最优旅行路线。</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350000" y="3479800"/>
            <a:ext cx="304800" cy="304800"/>
          </a:xfrm>
          <a:prstGeom prst="rect">
            <a:avLst/>
          </a:prstGeom>
        </p:spPr>
      </p:pic>
      <p:sp>
        <p:nvSpPr>
          <p:cNvPr name="AutoShape 10" id="10"/>
          <p:cNvSpPr/>
          <p:nvPr/>
        </p:nvSpPr>
        <p:spPr>
          <a:xfrm rot="0" flipH="false" flipV="false">
            <a:off x="6858000" y="3505200"/>
            <a:ext cx="4572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核心技术架构</a:t>
            </a:r>
            <a:endParaRPr lang="en-US" sz="1100"/>
          </a:p>
        </p:txBody>
      </p:sp>
      <p:sp>
        <p:nvSpPr>
          <p:cNvPr name="AutoShape 11" id="11"/>
          <p:cNvSpPr/>
          <p:nvPr/>
        </p:nvSpPr>
        <p:spPr>
          <a:xfrm rot="0" flipH="false" flipV="false">
            <a:off x="6858000" y="3962400"/>
            <a:ext cx="4572000" cy="8382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基于图(Graph)数据结构与最短路径算法，将城市抽象为顶点，交通路线抽象为动态加权的边。</a:t>
            </a:r>
            <a:endParaRPr lang="en-US" sz="1100"/>
          </a:p>
        </p:txBody>
      </p:sp>
      <p:cxnSp>
        <p:nvCxnSpPr>
          <p:cNvPr name="Connector 12" id="12"/>
          <p:cNvCxnSpPr/>
          <p:nvPr/>
        </p:nvCxnSpPr>
        <p:spPr>
          <a:xfrm rot="-9046" flipH="false" flipV="false">
            <a:off x="6350008" y="4946650"/>
            <a:ext cx="4826000" cy="12700"/>
          </a:xfrm>
          <a:prstGeom prst="straightConnector1">
            <a:avLst/>
          </a:prstGeom>
          <a:solidFill>
            <a:srgbClr val="DEE0E3">
              <a:alpha val="100000"/>
            </a:srgbClr>
          </a:solidFill>
          <a:ln w="12700" cmpd="sng" cap="flat">
            <a:solidFill>
              <a:srgbClr val="00BFFF">
                <a:alpha val="30000"/>
              </a:srgbClr>
            </a:solidFill>
            <a:prstDash val="dash"/>
            <a:round/>
            <a:headEnd type="none" w="med" len="med"/>
            <a:tailEnd type="none" w="med" len="med"/>
          </a:ln>
        </p:spPr>
      </p:cxn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350000" y="5207000"/>
            <a:ext cx="203200" cy="203200"/>
          </a:xfrm>
          <a:prstGeom prst="rect">
            <a:avLst/>
          </a:prstGeom>
        </p:spPr>
      </p:pic>
      <p:sp>
        <p:nvSpPr>
          <p:cNvPr name="AutoShape 14" id="14"/>
          <p:cNvSpPr/>
          <p:nvPr/>
        </p:nvSpPr>
        <p:spPr>
          <a:xfrm rot="0" flipH="false" flipV="false">
            <a:off x="6705600" y="5207000"/>
            <a:ext cx="4318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个性化策略，满足多样化出行需求</a:t>
            </a:r>
            <a:endParaRPr lang="en-US" sz="1100"/>
          </a:p>
        </p:txBody>
      </p:sp>
      <p:pic>
        <p:nvPicPr>
          <p:cNvPr name="Picture 15" id="15"/>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350000" y="5651500"/>
            <a:ext cx="203200" cy="203200"/>
          </a:xfrm>
          <a:prstGeom prst="rect">
            <a:avLst/>
          </a:prstGeom>
        </p:spPr>
      </p:pic>
      <p:sp>
        <p:nvSpPr>
          <p:cNvPr name="AutoShape 16" id="16"/>
          <p:cNvSpPr/>
          <p:nvPr/>
        </p:nvSpPr>
        <p:spPr>
          <a:xfrm rot="0" flipH="false" flipV="false">
            <a:off x="6705600" y="5651500"/>
            <a:ext cx="4318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高效算法，实时计算最优解</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111827">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76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Poppins"/>
                <a:ea typeface="Poppins"/>
                <a:cs typeface="Poppins"/>
                <a:sym typeface="Poppins"/>
              </a:rPr>
              <a:t>数据结构设计</a:t>
            </a:r>
            <a:endParaRPr lang="en-US" sz="1100"/>
          </a:p>
        </p:txBody>
      </p:sp>
      <p:cxnSp>
        <p:nvCxnSpPr>
          <p:cNvPr name="Connector 5" id="5"/>
          <p:cNvCxnSpPr/>
          <p:nvPr/>
        </p:nvCxnSpPr>
        <p:spPr>
          <a:xfrm rot="-4297" flipH="false" flipV="false">
            <a:off x="1016004" y="1454150"/>
            <a:ext cx="101600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6" id="6"/>
          <p:cNvSpPr/>
          <p:nvPr/>
        </p:nvSpPr>
        <p:spPr>
          <a:xfrm rot="0" flipH="false" flipV="false">
            <a:off x="1016000" y="1714500"/>
            <a:ext cx="10160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600">
                <a:solidFill>
                  <a:srgbClr val="E5E7EB"/>
                </a:solidFill>
                <a:latin typeface="Roboto"/>
                <a:ea typeface="Roboto"/>
                <a:cs typeface="Roboto"/>
                <a:sym typeface="Roboto"/>
              </a:rPr>
              <a:t>为了有效表示城市、交通路径及其多维属性，本项目采用了</a:t>
            </a:r>
            <a:r>
              <a:rPr lang="en-US" b="true" i="false" strike="noStrike" u="none" sz="1600">
                <a:solidFill>
                  <a:srgbClr val="E5E7EB"/>
                </a:solidFill>
                <a:latin typeface="Roboto"/>
                <a:ea typeface="Roboto"/>
                <a:cs typeface="Roboto"/>
                <a:sym typeface="Roboto"/>
              </a:rPr>
              <a:t>图（Graph）</a:t>
            </a:r>
            <a:r>
              <a:rPr lang="en-US" b="false" i="false" strike="noStrike" u="none" sz="1600">
                <a:solidFill>
                  <a:srgbClr val="E5E7EB"/>
                </a:solidFill>
                <a:latin typeface="Roboto"/>
                <a:ea typeface="Roboto"/>
                <a:cs typeface="Roboto"/>
                <a:sym typeface="Roboto"/>
              </a:rPr>
              <a:t>作为逻辑结构，并通过</a:t>
            </a:r>
            <a:r>
              <a:rPr lang="en-US" b="true" i="false" strike="noStrike" u="none" sz="1600">
                <a:solidFill>
                  <a:srgbClr val="E5E7EB"/>
                </a:solidFill>
                <a:latin typeface="Roboto"/>
                <a:ea typeface="Roboto"/>
                <a:cs typeface="Roboto"/>
                <a:sym typeface="Roboto"/>
              </a:rPr>
              <a:t>邻接矩阵（Adjacency Matrix）</a:t>
            </a:r>
            <a:r>
              <a:rPr lang="en-US" b="false" i="false" strike="noStrike" u="none" sz="1600">
                <a:solidFill>
                  <a:srgbClr val="E5E7EB"/>
                </a:solidFill>
                <a:latin typeface="Roboto"/>
                <a:ea typeface="Roboto"/>
                <a:cs typeface="Roboto"/>
                <a:sym typeface="Roboto"/>
              </a:rPr>
              <a:t>进行物理存储。</a:t>
            </a:r>
            <a:endParaRPr lang="en-US" sz="1100"/>
          </a:p>
        </p:txBody>
      </p:sp>
      <p:sp>
        <p:nvSpPr>
          <p:cNvPr name="AutoShape 7" id="7"/>
          <p:cNvSpPr/>
          <p:nvPr/>
        </p:nvSpPr>
        <p:spPr>
          <a:xfrm rot="0" flipH="false" flipV="false">
            <a:off x="1016000" y="2667000"/>
            <a:ext cx="4826000" cy="2286000"/>
          </a:xfrm>
          <a:prstGeom prst="roundRect">
            <a:avLst>
              <a:gd name="adj" fmla="val 4444"/>
            </a:avLst>
          </a:prstGeom>
          <a:solidFill>
            <a:srgbClr val="1F2937">
              <a:alpha val="70000"/>
            </a:srgbClr>
          </a:solidFill>
          <a:ln w="12700" cmpd="sng" cap="flat">
            <a:solidFill>
              <a:srgbClr val="00BFFF">
                <a:alpha val="4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270000" y="2921000"/>
            <a:ext cx="304800" cy="304800"/>
          </a:xfrm>
          <a:prstGeom prst="rect">
            <a:avLst/>
          </a:prstGeom>
        </p:spPr>
      </p:pic>
      <p:sp>
        <p:nvSpPr>
          <p:cNvPr name="AutoShape 9" id="9"/>
          <p:cNvSpPr/>
          <p:nvPr/>
        </p:nvSpPr>
        <p:spPr>
          <a:xfrm rot="0" flipH="false" flipV="false">
            <a:off x="1701800" y="2933700"/>
            <a:ext cx="381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顶点 (Vertex)</a:t>
            </a:r>
            <a:endParaRPr lang="en-US" sz="1100"/>
          </a:p>
        </p:txBody>
      </p:sp>
      <p:sp>
        <p:nvSpPr>
          <p:cNvPr name="AutoShape 10" id="10"/>
          <p:cNvSpPr/>
          <p:nvPr/>
        </p:nvSpPr>
        <p:spPr>
          <a:xfrm rot="0" flipH="false" flipV="false">
            <a:off x="1270000" y="3492500"/>
            <a:ext cx="4318000" cy="2794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400">
                <a:solidFill>
                  <a:srgbClr val="E5E7EB"/>
                </a:solidFill>
                <a:latin typeface="Roboto"/>
                <a:ea typeface="Roboto"/>
                <a:cs typeface="Roboto"/>
                <a:sym typeface="Roboto"/>
              </a:rPr>
              <a:t>代表:</a:t>
            </a:r>
            <a:r>
              <a:rPr lang="en-US" b="false" i="false" strike="noStrike" u="none" sz="1400">
                <a:solidFill>
                  <a:srgbClr val="E5E7EB"/>
                </a:solidFill>
                <a:latin typeface="Roboto"/>
                <a:ea typeface="Roboto"/>
                <a:cs typeface="Roboto"/>
                <a:sym typeface="Roboto"/>
              </a:rPr>
              <a:t>城市</a:t>
            </a:r>
            <a:endParaRPr lang="en-US" sz="1100"/>
          </a:p>
        </p:txBody>
      </p:sp>
      <p:sp>
        <p:nvSpPr>
          <p:cNvPr name="AutoShape 11" id="11"/>
          <p:cNvSpPr/>
          <p:nvPr/>
        </p:nvSpPr>
        <p:spPr>
          <a:xfrm rot="0" flipH="false" flipV="false">
            <a:off x="1270000" y="3937000"/>
            <a:ext cx="4318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400">
                <a:solidFill>
                  <a:srgbClr val="E5E7EB"/>
                </a:solidFill>
                <a:latin typeface="Roboto"/>
                <a:ea typeface="Roboto"/>
                <a:cs typeface="Roboto"/>
                <a:sym typeface="Roboto"/>
              </a:rPr>
              <a:t>存储:</a:t>
            </a:r>
            <a:r>
              <a:rPr lang="en-US" b="false" i="false" strike="noStrike" u="none" sz="1400">
                <a:solidFill>
                  <a:srgbClr val="E5E7EB"/>
                </a:solidFill>
                <a:latin typeface="Roboto"/>
                <a:ea typeface="Roboto"/>
                <a:cs typeface="Roboto"/>
                <a:sym typeface="Roboto"/>
              </a:rPr>
              <a:t>使用一维数组 `cityNames` 存储，数组下标作为城市唯一ID。</a:t>
            </a:r>
            <a:endParaRPr lang="en-US" sz="1100"/>
          </a:p>
        </p:txBody>
      </p:sp>
      <p:sp>
        <p:nvSpPr>
          <p:cNvPr name="AutoShape 12" id="12"/>
          <p:cNvSpPr/>
          <p:nvPr/>
        </p:nvSpPr>
        <p:spPr>
          <a:xfrm rot="0" flipH="false" flipV="false">
            <a:off x="6350000" y="2667000"/>
            <a:ext cx="4826000" cy="2286000"/>
          </a:xfrm>
          <a:prstGeom prst="roundRect">
            <a:avLst>
              <a:gd name="adj" fmla="val 4444"/>
            </a:avLst>
          </a:prstGeom>
          <a:solidFill>
            <a:srgbClr val="1F2937">
              <a:alpha val="70000"/>
            </a:srgbClr>
          </a:solidFill>
          <a:ln w="12700" cmpd="sng" cap="flat">
            <a:solidFill>
              <a:srgbClr val="00BFFF">
                <a:alpha val="4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2921000"/>
            <a:ext cx="304800" cy="304800"/>
          </a:xfrm>
          <a:prstGeom prst="rect">
            <a:avLst/>
          </a:prstGeom>
        </p:spPr>
      </p:pic>
      <p:sp>
        <p:nvSpPr>
          <p:cNvPr name="AutoShape 14" id="14"/>
          <p:cNvSpPr/>
          <p:nvPr/>
        </p:nvSpPr>
        <p:spPr>
          <a:xfrm rot="0" flipH="false" flipV="false">
            <a:off x="7035800" y="2933700"/>
            <a:ext cx="381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边 (Edge)</a:t>
            </a:r>
            <a:endParaRPr lang="en-US" sz="1100"/>
          </a:p>
        </p:txBody>
      </p:sp>
      <p:sp>
        <p:nvSpPr>
          <p:cNvPr name="AutoShape 15" id="15"/>
          <p:cNvSpPr/>
          <p:nvPr/>
        </p:nvSpPr>
        <p:spPr>
          <a:xfrm rot="0" flipH="false" flipV="false">
            <a:off x="6604000" y="3492500"/>
            <a:ext cx="4318000" cy="2794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400">
                <a:solidFill>
                  <a:srgbClr val="E5E7EB"/>
                </a:solidFill>
                <a:latin typeface="Roboto"/>
                <a:ea typeface="Roboto"/>
                <a:cs typeface="Roboto"/>
                <a:sym typeface="Roboto"/>
              </a:rPr>
              <a:t>代表:</a:t>
            </a:r>
            <a:r>
              <a:rPr lang="en-US" b="false" i="false" strike="noStrike" u="none" sz="1400">
                <a:solidFill>
                  <a:srgbClr val="E5E7EB"/>
                </a:solidFill>
                <a:latin typeface="Roboto"/>
                <a:ea typeface="Roboto"/>
                <a:cs typeface="Roboto"/>
                <a:sym typeface="Roboto"/>
              </a:rPr>
              <a:t>城市间的交通路线</a:t>
            </a:r>
            <a:endParaRPr lang="en-US" sz="1100"/>
          </a:p>
        </p:txBody>
      </p:sp>
      <p:sp>
        <p:nvSpPr>
          <p:cNvPr name="AutoShape 16" id="16"/>
          <p:cNvSpPr/>
          <p:nvPr/>
        </p:nvSpPr>
        <p:spPr>
          <a:xfrm rot="0" flipH="false" flipV="false">
            <a:off x="6604000" y="3937000"/>
            <a:ext cx="4318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400">
                <a:solidFill>
                  <a:srgbClr val="E5E7EB"/>
                </a:solidFill>
                <a:latin typeface="Roboto"/>
                <a:ea typeface="Roboto"/>
                <a:cs typeface="Roboto"/>
                <a:sym typeface="Roboto"/>
              </a:rPr>
              <a:t>存储:</a:t>
            </a:r>
            <a:r>
              <a:rPr lang="en-US" b="false" i="false" strike="noStrike" u="none" sz="1400">
                <a:solidFill>
                  <a:srgbClr val="E5E7EB"/>
                </a:solidFill>
                <a:latin typeface="Roboto"/>
                <a:ea typeface="Roboto"/>
                <a:cs typeface="Roboto"/>
                <a:sym typeface="Roboto"/>
              </a:rPr>
              <a:t>二维结构体数组，包含费用、耗时、交通工具类型等信息。</a:t>
            </a:r>
            <a:endParaRPr lang="en-US" sz="1100"/>
          </a:p>
        </p:txBody>
      </p:sp>
      <p:cxnSp>
        <p:nvCxnSpPr>
          <p:cNvPr name="Connector 17" id="17"/>
          <p:cNvCxnSpPr/>
          <p:nvPr/>
        </p:nvCxnSpPr>
        <p:spPr>
          <a:xfrm rot="-4297" flipH="false" flipV="false">
            <a:off x="1016004" y="5200650"/>
            <a:ext cx="10160000" cy="12700"/>
          </a:xfrm>
          <a:prstGeom prst="straightConnector1">
            <a:avLst/>
          </a:prstGeom>
          <a:solidFill>
            <a:srgbClr val="DEE0E3">
              <a:alpha val="100000"/>
            </a:srgbClr>
          </a:solidFill>
          <a:ln w="12700" cmpd="sng" cap="flat">
            <a:solidFill>
              <a:srgbClr val="00BFFF">
                <a:alpha val="30000"/>
              </a:srgbClr>
            </a:solidFill>
            <a:prstDash val="dash"/>
            <a:round/>
            <a:headEnd type="none" w="med" len="med"/>
            <a:tailEnd type="none" w="med" len="med"/>
          </a:ln>
        </p:spPr>
      </p:cxn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5461000"/>
            <a:ext cx="254000" cy="254000"/>
          </a:xfrm>
          <a:prstGeom prst="rect">
            <a:avLst/>
          </a:prstGeom>
        </p:spPr>
      </p:pic>
      <p:sp>
        <p:nvSpPr>
          <p:cNvPr name="AutoShape 19" id="19"/>
          <p:cNvSpPr/>
          <p:nvPr/>
        </p:nvSpPr>
        <p:spPr>
          <a:xfrm rot="0" flipH="false" flipV="false">
            <a:off x="1397000" y="5473700"/>
            <a:ext cx="9652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400">
                <a:solidFill>
                  <a:srgbClr val="E5E7EB"/>
                </a:solidFill>
                <a:latin typeface="Roboto"/>
                <a:ea typeface="Roboto"/>
                <a:cs typeface="Roboto"/>
                <a:sym typeface="Roboto"/>
              </a:rPr>
              <a:t>设计理由:</a:t>
            </a:r>
            <a:r>
              <a:rPr lang="en-US" b="false" i="false" strike="noStrike" u="none" sz="1400">
                <a:solidFill>
                  <a:srgbClr val="E5E7EB"/>
                </a:solidFill>
                <a:latin typeface="Roboto"/>
                <a:ea typeface="Roboto"/>
                <a:cs typeface="Roboto"/>
                <a:sym typeface="Roboto"/>
              </a:rPr>
              <a:t>邻接矩阵能以 O(1) 的时间复杂度快速查询任意两点间的路径信息，对于城市数量不多的场景非常高效且直观。</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0A14">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30000"/>
          </a:blip>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1016000" y="76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Poppins"/>
                <a:ea typeface="Poppins"/>
                <a:cs typeface="Poppins"/>
                <a:sym typeface="Poppins"/>
              </a:rPr>
              <a:t>算法设计与实现</a:t>
            </a:r>
            <a:endParaRPr lang="en-US" sz="1100"/>
          </a:p>
        </p:txBody>
      </p:sp>
      <p:cxnSp>
        <p:nvCxnSpPr>
          <p:cNvPr name="Connector 4" id="4"/>
          <p:cNvCxnSpPr/>
          <p:nvPr/>
        </p:nvCxnSpPr>
        <p:spPr>
          <a:xfrm rot="-4297" flipH="false" flipV="false">
            <a:off x="1016004" y="1454150"/>
            <a:ext cx="101600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5" id="5"/>
          <p:cNvSpPr/>
          <p:nvPr/>
        </p:nvSpPr>
        <p:spPr>
          <a:xfrm rot="0" flipH="false" flipV="false">
            <a:off x="1016000" y="1778000"/>
            <a:ext cx="508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Dijkstra 算法核心</a:t>
            </a:r>
            <a:endParaRPr lang="en-US" sz="1100"/>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304800" cy="304800"/>
          </a:xfrm>
          <a:prstGeom prst="rect">
            <a:avLst/>
          </a:prstGeom>
        </p:spPr>
      </p:pic>
      <p:sp>
        <p:nvSpPr>
          <p:cNvPr name="AutoShape 7" id="7"/>
          <p:cNvSpPr/>
          <p:nvPr/>
        </p:nvSpPr>
        <p:spPr>
          <a:xfrm rot="0" flipH="false" flipV="false">
            <a:off x="1447800" y="22987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核心思想</a:t>
            </a:r>
            <a:endParaRPr lang="en-US" sz="1100"/>
          </a:p>
        </p:txBody>
      </p:sp>
      <p:sp>
        <p:nvSpPr>
          <p:cNvPr name="AutoShape 8" id="8"/>
          <p:cNvSpPr/>
          <p:nvPr/>
        </p:nvSpPr>
        <p:spPr>
          <a:xfrm rot="0" flipH="false" flipV="false">
            <a:off x="1447800" y="2667000"/>
            <a:ext cx="4572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Roboto"/>
                <a:ea typeface="Roboto"/>
                <a:cs typeface="Roboto"/>
                <a:sym typeface="Roboto"/>
              </a:rPr>
              <a:t>基于贪心策略，逐步找到从起点到图中所有其他节点的最短路径。</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29000"/>
            <a:ext cx="304800" cy="304800"/>
          </a:xfrm>
          <a:prstGeom prst="rect">
            <a:avLst/>
          </a:prstGeom>
        </p:spPr>
      </p:pic>
      <p:sp>
        <p:nvSpPr>
          <p:cNvPr name="AutoShape 10" id="10"/>
          <p:cNvSpPr/>
          <p:nvPr/>
        </p:nvSpPr>
        <p:spPr>
          <a:xfrm rot="0" flipH="false" flipV="false">
            <a:off x="1447800" y="34417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动态权重选择</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447800" y="3873500"/>
            <a:ext cx="203200" cy="203200"/>
          </a:xfrm>
          <a:prstGeom prst="rect">
            <a:avLst/>
          </a:prstGeom>
        </p:spPr>
      </p:pic>
      <p:sp>
        <p:nvSpPr>
          <p:cNvPr name="AutoShape 12" id="12"/>
          <p:cNvSpPr/>
          <p:nvPr/>
        </p:nvSpPr>
        <p:spPr>
          <a:xfrm rot="0" flipH="false" flipV="false">
            <a:off x="1778000" y="38735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E5E7EB"/>
                </a:solidFill>
                <a:latin typeface="Roboto"/>
                <a:ea typeface="Roboto"/>
                <a:cs typeface="Roboto"/>
                <a:sym typeface="Roboto"/>
              </a:rPr>
              <a:t>最短时间：</a:t>
            </a:r>
            <a:r>
              <a:rPr lang="en-US" b="false" i="false" strike="noStrike" u="none" sz="1400">
                <a:solidFill>
                  <a:srgbClr val="E5E7EB"/>
                </a:solidFill>
                <a:latin typeface="Roboto"/>
                <a:ea typeface="Roboto"/>
                <a:cs typeface="Roboto"/>
                <a:sym typeface="Roboto"/>
              </a:rPr>
              <a:t>权重 = 路线耗时</a:t>
            </a:r>
            <a:endParaRPr lang="en-US" sz="1100"/>
          </a:p>
        </p:txBody>
      </p:sp>
      <p:pic>
        <p:nvPicPr>
          <p:cNvPr name="Picture 13" id="1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447800" y="4381500"/>
            <a:ext cx="203200" cy="203200"/>
          </a:xfrm>
          <a:prstGeom prst="rect">
            <a:avLst/>
          </a:prstGeom>
        </p:spPr>
      </p:pic>
      <p:sp>
        <p:nvSpPr>
          <p:cNvPr name="AutoShape 14" id="14"/>
          <p:cNvSpPr/>
          <p:nvPr/>
        </p:nvSpPr>
        <p:spPr>
          <a:xfrm rot="0" flipH="false" flipV="false">
            <a:off x="1778000" y="43815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E5E7EB"/>
                </a:solidFill>
                <a:latin typeface="Roboto"/>
                <a:ea typeface="Roboto"/>
                <a:cs typeface="Roboto"/>
                <a:sym typeface="Roboto"/>
              </a:rPr>
              <a:t>最低成本：</a:t>
            </a:r>
            <a:r>
              <a:rPr lang="en-US" b="false" i="false" strike="noStrike" u="none" sz="1400">
                <a:solidFill>
                  <a:srgbClr val="E5E7EB"/>
                </a:solidFill>
                <a:latin typeface="Roboto"/>
                <a:ea typeface="Roboto"/>
                <a:cs typeface="Roboto"/>
                <a:sym typeface="Roboto"/>
              </a:rPr>
              <a:t>权重 = 路线费用</a:t>
            </a:r>
            <a:endParaRPr lang="en-US" sz="1100"/>
          </a:p>
        </p:txBody>
      </p:sp>
      <p:pic>
        <p:nvPicPr>
          <p:cNvPr name="Picture 15" id="15"/>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447800" y="4889500"/>
            <a:ext cx="203200" cy="203200"/>
          </a:xfrm>
          <a:prstGeom prst="rect">
            <a:avLst/>
          </a:prstGeom>
        </p:spPr>
      </p:pic>
      <p:sp>
        <p:nvSpPr>
          <p:cNvPr name="AutoShape 16" id="16"/>
          <p:cNvSpPr/>
          <p:nvPr/>
        </p:nvSpPr>
        <p:spPr>
          <a:xfrm rot="0" flipH="false" flipV="false">
            <a:off x="1778000" y="48895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E5E7EB"/>
                </a:solidFill>
                <a:latin typeface="Roboto"/>
                <a:ea typeface="Roboto"/>
                <a:cs typeface="Roboto"/>
                <a:sym typeface="Roboto"/>
              </a:rPr>
              <a:t>最少中转：</a:t>
            </a:r>
            <a:r>
              <a:rPr lang="en-US" b="false" i="false" strike="noStrike" u="none" sz="1400">
                <a:solidFill>
                  <a:srgbClr val="E5E7EB"/>
                </a:solidFill>
                <a:latin typeface="Roboto"/>
                <a:ea typeface="Roboto"/>
                <a:cs typeface="Roboto"/>
                <a:sym typeface="Roboto"/>
              </a:rPr>
              <a:t>权重 = 1 (每条边)</a:t>
            </a:r>
            <a:endParaRPr lang="en-US" sz="1100"/>
          </a:p>
        </p:txBody>
      </p:sp>
      <p:cxnSp>
        <p:nvCxnSpPr>
          <p:cNvPr name="Connector 17" id="17"/>
          <p:cNvCxnSpPr/>
          <p:nvPr/>
        </p:nvCxnSpPr>
        <p:spPr>
          <a:xfrm rot="5388540" flipH="false" flipV="false">
            <a:off x="4191000" y="3676661"/>
            <a:ext cx="3810000" cy="12700"/>
          </a:xfrm>
          <a:prstGeom prst="straightConnector1">
            <a:avLst/>
          </a:prstGeom>
          <a:solidFill>
            <a:srgbClr val="DEE0E3">
              <a:alpha val="100000"/>
            </a:srgbClr>
          </a:solidFill>
          <a:ln w="12700" cmpd="sng" cap="flat">
            <a:solidFill>
              <a:srgbClr val="00BFFF">
                <a:alpha val="30000"/>
              </a:srgbClr>
            </a:solidFill>
            <a:prstDash val="dash"/>
            <a:round/>
            <a:headEnd type="none" w="med" len="med"/>
            <a:tailEnd type="none" w="med" len="med"/>
          </a:ln>
        </p:spPr>
      </p:cxnSp>
      <p:sp>
        <p:nvSpPr>
          <p:cNvPr name="AutoShape 18" id="18"/>
          <p:cNvSpPr/>
          <p:nvPr/>
        </p:nvSpPr>
        <p:spPr>
          <a:xfrm rot="0" flipH="false" flipV="false">
            <a:off x="6604000" y="1778000"/>
            <a:ext cx="508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算法迭代流程</a:t>
            </a:r>
            <a:endParaRPr lang="en-US" sz="1100"/>
          </a:p>
        </p:txBody>
      </p:sp>
      <p:sp>
        <p:nvSpPr>
          <p:cNvPr name="AutoShape 19" id="19"/>
          <p:cNvSpPr/>
          <p:nvPr/>
        </p:nvSpPr>
        <p:spPr>
          <a:xfrm rot="0" flipH="false" flipV="false">
            <a:off x="6604000" y="5461000"/>
            <a:ext cx="4572000" cy="558800"/>
          </a:xfrm>
          <a:prstGeom prst="rect">
            <a:avLst/>
          </a:prstGeom>
          <a:noFill/>
          <a:ln w="12700" cmpd="sng" cap="flat">
            <a:noFill/>
            <a:prstDash val="solid"/>
            <a:round/>
          </a:ln>
        </p:spPr>
        <p:txBody>
          <a:bodyPr anchor="t" rtlCol="false" anchorCtr="false" vert="horz" wrap="square" lIns="0" rIns="0" tIns="0" bIns="0"/>
          <a:lstStyle/>
          <a:p>
            <a:pPr algn="ctr" indent="0">
              <a:lnSpc>
                <a:spcPct val="116666"/>
              </a:lnSpc>
              <a:defRPr/>
            </a:pPr>
            <a:r>
              <a:rPr lang="en-US" b="false" i="false" strike="noStrike" u="none" sz="1300">
                <a:solidFill>
                  <a:srgbClr val="D1D5DB"/>
                </a:solidFill>
                <a:latin typeface="Roboto"/>
                <a:ea typeface="Roboto"/>
                <a:cs typeface="Roboto"/>
                <a:sym typeface="Roboto"/>
              </a:rPr>
              <a:t>重复迭代直至遍历所有节点或找到终点。</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30000"/>
          </a:blip>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1016000" y="76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Poppins"/>
                <a:ea typeface="Poppins"/>
                <a:cs typeface="Poppins"/>
                <a:sym typeface="Poppins"/>
              </a:rPr>
              <a:t>运行结果演示</a:t>
            </a:r>
            <a:endParaRPr lang="en-US" sz="1100"/>
          </a:p>
        </p:txBody>
      </p:sp>
      <p:cxnSp>
        <p:nvCxnSpPr>
          <p:cNvPr name="Connector 4" id="4"/>
          <p:cNvCxnSpPr/>
          <p:nvPr/>
        </p:nvCxnSpPr>
        <p:spPr>
          <a:xfrm rot="-4297" flipH="false" flipV="false">
            <a:off x="1016004" y="1454150"/>
            <a:ext cx="101600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5" id="5"/>
          <p:cNvSpPr/>
          <p:nvPr/>
        </p:nvSpPr>
        <p:spPr>
          <a:xfrm rot="0" flipH="false" flipV="false">
            <a:off x="1016000" y="1778000"/>
            <a:ext cx="10160000" cy="3302000"/>
          </a:xfrm>
          <a:prstGeom prst="roundRect">
            <a:avLst>
              <a:gd name="adj" fmla="val 3076"/>
            </a:avLst>
          </a:prstGeom>
          <a:solidFill>
            <a:srgbClr val="000000">
              <a:alpha val="4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270000" y="2032000"/>
            <a:ext cx="9652000" cy="2794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Mono"/>
                <a:ea typeface="Roboto Mono"/>
                <a:cs typeface="Roboto Mono"/>
                <a:sym typeface="Roboto Mono"/>
              </a:rPr>
              <a:t>######## 旅行信息顾问系统 ########</a:t>
            </a:r>
            <a:r>
              <a:rPr lang="en-US" b="false" i="false" strike="noStrike" u="none" sz="1400">
                <a:solidFill>
                  <a:srgbClr val="1F2329"/>
                </a:solidFill>
                <a:latin typeface="Roboto Mono"/>
                <a:ea typeface="Roboto Mono"/>
                <a:cs typeface="Roboto Mono"/>
                <a:sym typeface="Roboto Mono"/>
              </a:rPr>
              <a:t/>
            </a:r>
            <a:endParaRPr lang="en-US" sz="1100"/>
          </a:p>
          <a:p>
            <a:pPr algn="l" indent="0">
              <a:lnSpc>
                <a:spcPct val="125000"/>
              </a:lnSpc>
            </a:pPr>
            <a:r>
              <a:rPr lang="en-US" b="false" i="false" strike="noStrike" u="none" sz="1400">
                <a:solidFill>
                  <a:srgbClr val="E5E7EB"/>
                </a:solidFill>
                <a:latin typeface="Roboto Mono"/>
                <a:ea typeface="Roboto Mono"/>
                <a:cs typeface="Roboto Mono"/>
                <a:sym typeface="Roboto Mono"/>
              </a:rPr>
              <a:t>当前可用城市: 北京 上海 西安 成都 广州</a:t>
            </a:r>
            <a:r>
              <a:rPr lang="en-US" b="false" i="false" strike="noStrike" u="none" sz="1400">
                <a:solidFill>
                  <a:srgbClr val="1F2329"/>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请输入起点城市: 北京</a:t>
            </a:r>
            <a:r>
              <a:rPr lang="en-US" b="false" i="false" strike="noStrike" u="none" sz="1400">
                <a:solidFill>
                  <a:srgbClr val="1F2329"/>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请输入终点城市: 广州</a:t>
            </a:r>
            <a:r>
              <a:rPr lang="en-US" b="false" i="false" strike="noStrike" u="none" sz="1400">
                <a:solidFill>
                  <a:srgbClr val="1F2329"/>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请选择偏好 (2. 最低旅行成本): 2</a:t>
            </a:r>
            <a:r>
              <a:rPr lang="en-US" b="false" i="false" strike="noStrike" u="none" sz="1400">
                <a:solidFill>
                  <a:srgbClr val="1F2329"/>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 推荐路线 ================</a:t>
            </a:r>
            <a:r>
              <a:rPr lang="en-US" b="false" i="false" strike="noStrike" u="none" sz="1400">
                <a:solidFill>
                  <a:srgbClr val="1F2329"/>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路线详情: 北京 -&gt; 西安 -&gt; 成都 -&gt; 广州</a:t>
            </a:r>
            <a:r>
              <a:rPr lang="en-US" b="false" i="false" strike="noStrike" u="none" sz="1400">
                <a:solidFill>
                  <a:srgbClr val="1F2329"/>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总费用:</a:t>
            </a:r>
            <a:r>
              <a:rPr lang="en-US" b="true" i="false" strike="noStrike" u="none" sz="1400">
                <a:solidFill>
                  <a:srgbClr val="00BFFF"/>
                </a:solidFill>
                <a:latin typeface="Roboto Mono"/>
                <a:ea typeface="Roboto Mono"/>
                <a:cs typeface="Roboto Mono"/>
                <a:sym typeface="Roboto Mono"/>
              </a:rPr>
              <a:t>1000 元</a:t>
            </a:r>
            <a:r>
              <a:rPr lang="en-US" b="false" i="false" strike="noStrike" u="none" sz="1400">
                <a:solidFill>
                  <a:srgbClr val="E5E7EB"/>
                </a:solidFill>
                <a:latin typeface="Roboto Mono"/>
                <a:ea typeface="Roboto Mono"/>
                <a:cs typeface="Roboto Mono"/>
                <a:sym typeface="Roboto Mono"/>
              </a:rPr>
              <a:t>| 总时间:</a:t>
            </a:r>
            <a:r>
              <a:rPr lang="en-US" b="true" i="false" strike="noStrike" u="none" sz="1400">
                <a:solidFill>
                  <a:srgbClr val="00BFFF"/>
                </a:solidFill>
                <a:latin typeface="Roboto Mono"/>
                <a:ea typeface="Roboto Mono"/>
                <a:cs typeface="Roboto Mono"/>
                <a:sym typeface="Roboto Mono"/>
              </a:rPr>
              <a:t>20 小时</a:t>
            </a:r>
            <a:r>
              <a:rPr lang="en-US" b="false" i="false" strike="noStrike" u="none" sz="1400">
                <a:solidFill>
                  <a:srgbClr val="E5E7EB"/>
                </a:solidFill>
                <a:latin typeface="Roboto Mono"/>
                <a:ea typeface="Roboto Mono"/>
                <a:cs typeface="Roboto Mono"/>
                <a:sym typeface="Roboto Mono"/>
              </a:rPr>
              <a:t>| 中转次数:</a:t>
            </a:r>
            <a:r>
              <a:rPr lang="en-US" b="true" i="false" strike="noStrike" u="none" sz="1400">
                <a:solidFill>
                  <a:srgbClr val="00BFFF"/>
                </a:solidFill>
                <a:latin typeface="Roboto Mono"/>
                <a:ea typeface="Roboto Mono"/>
                <a:cs typeface="Roboto Mono"/>
                <a:sym typeface="Roboto Mono"/>
              </a:rPr>
              <a:t>2 次</a:t>
            </a: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5334000"/>
            <a:ext cx="254000" cy="254000"/>
          </a:xfrm>
          <a:prstGeom prst="rect">
            <a:avLst/>
          </a:prstGeom>
        </p:spPr>
      </p:pic>
      <p:sp>
        <p:nvSpPr>
          <p:cNvPr name="AutoShape 8" id="8"/>
          <p:cNvSpPr/>
          <p:nvPr/>
        </p:nvSpPr>
        <p:spPr>
          <a:xfrm rot="0" flipH="false" flipV="false">
            <a:off x="1397000" y="5334000"/>
            <a:ext cx="965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分析：</a:t>
            </a:r>
            <a:r>
              <a:rPr lang="en-US" b="false" i="false" strike="noStrike" u="none" sz="1400">
                <a:solidFill>
                  <a:srgbClr val="E5E7EB"/>
                </a:solidFill>
                <a:latin typeface="Roboto"/>
                <a:ea typeface="Roboto"/>
                <a:cs typeface="Roboto"/>
                <a:sym typeface="Roboto"/>
              </a:rPr>
              <a:t>系统正确计算出经由西安、成都中转的火车路线为成本最低方案，总费用1000元，远低于直飞的2000元。</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20000"/>
          </a:blip>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1016000" y="76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Poppins"/>
                <a:ea typeface="Poppins"/>
                <a:cs typeface="Poppins"/>
                <a:sym typeface="Poppins"/>
              </a:rPr>
              <a:t>优缺点分析</a:t>
            </a:r>
            <a:endParaRPr lang="en-US" sz="1100"/>
          </a:p>
        </p:txBody>
      </p:sp>
      <p:cxnSp>
        <p:nvCxnSpPr>
          <p:cNvPr name="Connector 4" id="4"/>
          <p:cNvCxnSpPr/>
          <p:nvPr/>
        </p:nvCxnSpPr>
        <p:spPr>
          <a:xfrm rot="-4297" flipH="false" flipV="false">
            <a:off x="1016004" y="1454150"/>
            <a:ext cx="101600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304800" cy="304800"/>
          </a:xfrm>
          <a:prstGeom prst="rect">
            <a:avLst/>
          </a:prstGeom>
        </p:spPr>
      </p:pic>
      <p:sp>
        <p:nvSpPr>
          <p:cNvPr name="AutoShape 6" id="6"/>
          <p:cNvSpPr/>
          <p:nvPr/>
        </p:nvSpPr>
        <p:spPr>
          <a:xfrm rot="0" flipH="false" flipV="false">
            <a:off x="1447800" y="1917700"/>
            <a:ext cx="4445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优点 (Advantages)</a:t>
            </a:r>
            <a:endParaRPr lang="en-US" sz="1100"/>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603500"/>
            <a:ext cx="228600" cy="228600"/>
          </a:xfrm>
          <a:prstGeom prst="rect">
            <a:avLst/>
          </a:prstGeom>
        </p:spPr>
      </p:pic>
      <p:sp>
        <p:nvSpPr>
          <p:cNvPr name="AutoShape 8" id="8"/>
          <p:cNvSpPr/>
          <p:nvPr/>
        </p:nvSpPr>
        <p:spPr>
          <a:xfrm rot="0" flipH="false" flipV="false">
            <a:off x="1397000" y="26035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通用性强</a:t>
            </a:r>
            <a:endParaRPr lang="en-US" sz="1100"/>
          </a:p>
        </p:txBody>
      </p:sp>
      <p:sp>
        <p:nvSpPr>
          <p:cNvPr name="AutoShape 9" id="9"/>
          <p:cNvSpPr/>
          <p:nvPr/>
        </p:nvSpPr>
        <p:spPr>
          <a:xfrm rot="0" flipH="false" flipV="false">
            <a:off x="1397000" y="2984500"/>
            <a:ext cx="4572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Roboto"/>
                <a:ea typeface="Roboto"/>
                <a:cs typeface="Roboto"/>
                <a:sym typeface="Roboto"/>
              </a:rPr>
              <a:t>同一算法解决时间、成本、跳数问题，代码复用率高。</a:t>
            </a:r>
            <a:endParaRPr lang="en-US" sz="1100"/>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746500"/>
            <a:ext cx="228600" cy="228600"/>
          </a:xfrm>
          <a:prstGeom prst="rect">
            <a:avLst/>
          </a:prstGeom>
        </p:spPr>
      </p:pic>
      <p:sp>
        <p:nvSpPr>
          <p:cNvPr name="AutoShape 11" id="11"/>
          <p:cNvSpPr/>
          <p:nvPr/>
        </p:nvSpPr>
        <p:spPr>
          <a:xfrm rot="0" flipH="false" flipV="false">
            <a:off x="1397000" y="37465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扩展性好</a:t>
            </a:r>
            <a:endParaRPr lang="en-US" sz="1100"/>
          </a:p>
        </p:txBody>
      </p:sp>
      <p:sp>
        <p:nvSpPr>
          <p:cNvPr name="AutoShape 12" id="12"/>
          <p:cNvSpPr/>
          <p:nvPr/>
        </p:nvSpPr>
        <p:spPr>
          <a:xfrm rot="0" flipH="false" flipV="false">
            <a:off x="1397000" y="4127500"/>
            <a:ext cx="4572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Roboto"/>
                <a:ea typeface="Roboto"/>
                <a:cs typeface="Roboto"/>
                <a:sym typeface="Roboto"/>
              </a:rPr>
              <a:t>增加新偏好只需修改权重逻辑，易于功能迭代。</a:t>
            </a:r>
            <a:endParaRPr lang="en-US" sz="1100"/>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4889500"/>
            <a:ext cx="228600" cy="228600"/>
          </a:xfrm>
          <a:prstGeom prst="rect">
            <a:avLst/>
          </a:prstGeom>
        </p:spPr>
      </p:pic>
      <p:sp>
        <p:nvSpPr>
          <p:cNvPr name="AutoShape 14" id="14"/>
          <p:cNvSpPr/>
          <p:nvPr/>
        </p:nvSpPr>
        <p:spPr>
          <a:xfrm rot="0" flipH="false" flipV="false">
            <a:off x="1397000" y="48895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精确性高</a:t>
            </a:r>
            <a:endParaRPr lang="en-US" sz="1100"/>
          </a:p>
        </p:txBody>
      </p:sp>
      <p:sp>
        <p:nvSpPr>
          <p:cNvPr name="AutoShape 15" id="15"/>
          <p:cNvSpPr/>
          <p:nvPr/>
        </p:nvSpPr>
        <p:spPr>
          <a:xfrm rot="0" flipH="false" flipV="false">
            <a:off x="1397000" y="5270500"/>
            <a:ext cx="4572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Roboto"/>
                <a:ea typeface="Roboto"/>
                <a:cs typeface="Roboto"/>
                <a:sym typeface="Roboto"/>
              </a:rPr>
              <a:t>Dijkstra算法保证在无负权边图中找到绝对最优解。</a:t>
            </a:r>
            <a:endParaRPr lang="en-US" sz="1100"/>
          </a:p>
        </p:txBody>
      </p:sp>
      <p:cxnSp>
        <p:nvCxnSpPr>
          <p:cNvPr name="Connector 16" id="16"/>
          <p:cNvCxnSpPr/>
          <p:nvPr/>
        </p:nvCxnSpPr>
        <p:spPr>
          <a:xfrm rot="5388540" flipH="false" flipV="false">
            <a:off x="4191000" y="3803661"/>
            <a:ext cx="3810000" cy="12700"/>
          </a:xfrm>
          <a:prstGeom prst="straightConnector1">
            <a:avLst/>
          </a:prstGeom>
          <a:solidFill>
            <a:srgbClr val="DEE0E3">
              <a:alpha val="100000"/>
            </a:srgbClr>
          </a:solidFill>
          <a:ln w="12700" cmpd="sng" cap="flat">
            <a:solidFill>
              <a:srgbClr val="FFFFFF">
                <a:alpha val="20000"/>
              </a:srgbClr>
            </a:solidFill>
            <a:prstDash val="dash"/>
            <a:round/>
            <a:headEnd type="none" w="med" len="med"/>
            <a:tailEnd type="none" w="med" len="med"/>
          </a:ln>
        </p:spPr>
      </p:cxn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04000" y="1905000"/>
            <a:ext cx="304800" cy="304800"/>
          </a:xfrm>
          <a:prstGeom prst="rect">
            <a:avLst/>
          </a:prstGeom>
        </p:spPr>
      </p:pic>
      <p:sp>
        <p:nvSpPr>
          <p:cNvPr name="AutoShape 18" id="18"/>
          <p:cNvSpPr/>
          <p:nvPr/>
        </p:nvSpPr>
        <p:spPr>
          <a:xfrm rot="0" flipH="false" flipV="false">
            <a:off x="7035800" y="1917700"/>
            <a:ext cx="4445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局限性 (Limitations)</a:t>
            </a:r>
            <a:endParaRPr lang="en-US" sz="1100"/>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2603500"/>
            <a:ext cx="228600" cy="228600"/>
          </a:xfrm>
          <a:prstGeom prst="rect">
            <a:avLst/>
          </a:prstGeom>
        </p:spPr>
      </p:pic>
      <p:sp>
        <p:nvSpPr>
          <p:cNvPr name="AutoShape 20" id="20"/>
          <p:cNvSpPr/>
          <p:nvPr/>
        </p:nvSpPr>
        <p:spPr>
          <a:xfrm rot="0" flipH="false" flipV="false">
            <a:off x="6985000" y="26035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未处理多重边</a:t>
            </a:r>
            <a:endParaRPr lang="en-US" sz="1100"/>
          </a:p>
        </p:txBody>
      </p:sp>
      <p:sp>
        <p:nvSpPr>
          <p:cNvPr name="AutoShape 21" id="21"/>
          <p:cNvSpPr/>
          <p:nvPr/>
        </p:nvSpPr>
        <p:spPr>
          <a:xfrm rot="0" flipH="false" flipV="false">
            <a:off x="6985000" y="2984500"/>
            <a:ext cx="4572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Roboto"/>
                <a:ea typeface="Roboto"/>
                <a:cs typeface="Roboto"/>
                <a:sym typeface="Roboto"/>
              </a:rPr>
              <a:t>无法表示两城市间多种交通方式（如高铁和飞机）。</a:t>
            </a:r>
            <a:endParaRPr lang="en-US" sz="1100"/>
          </a:p>
        </p:txBody>
      </p:sp>
      <p:pic>
        <p:nvPicPr>
          <p:cNvPr name="Picture 22" id="22"/>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3746500"/>
            <a:ext cx="228600" cy="228600"/>
          </a:xfrm>
          <a:prstGeom prst="rect">
            <a:avLst/>
          </a:prstGeom>
        </p:spPr>
      </p:pic>
      <p:sp>
        <p:nvSpPr>
          <p:cNvPr name="AutoShape 23" id="23"/>
          <p:cNvSpPr/>
          <p:nvPr/>
        </p:nvSpPr>
        <p:spPr>
          <a:xfrm rot="0" flipH="false" flipV="false">
            <a:off x="6985000" y="37465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忽略中转等待时间</a:t>
            </a:r>
            <a:endParaRPr lang="en-US" sz="1100"/>
          </a:p>
        </p:txBody>
      </p:sp>
      <p:sp>
        <p:nvSpPr>
          <p:cNvPr name="AutoShape 24" id="24"/>
          <p:cNvSpPr/>
          <p:nvPr/>
        </p:nvSpPr>
        <p:spPr>
          <a:xfrm rot="0" flipH="false" flipV="false">
            <a:off x="6985000" y="4127500"/>
            <a:ext cx="4572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Roboto"/>
                <a:ea typeface="Roboto"/>
                <a:cs typeface="Roboto"/>
                <a:sym typeface="Roboto"/>
              </a:rPr>
              <a:t>仅计算路程耗时，与包含换乘等待的现实场景有差异。</a:t>
            </a:r>
            <a:endParaRPr lang="en-US" sz="1100"/>
          </a:p>
        </p:txBody>
      </p:sp>
      <p:pic>
        <p:nvPicPr>
          <p:cNvPr name="Picture 25" id="25"/>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4889500"/>
            <a:ext cx="228600" cy="228600"/>
          </a:xfrm>
          <a:prstGeom prst="rect">
            <a:avLst/>
          </a:prstGeom>
        </p:spPr>
      </p:pic>
      <p:sp>
        <p:nvSpPr>
          <p:cNvPr name="AutoShape 26" id="26"/>
          <p:cNvSpPr/>
          <p:nvPr/>
        </p:nvSpPr>
        <p:spPr>
          <a:xfrm rot="0" flipH="false" flipV="false">
            <a:off x="6985000" y="48895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静态数据依赖</a:t>
            </a:r>
            <a:endParaRPr lang="en-US" sz="1100"/>
          </a:p>
        </p:txBody>
      </p:sp>
      <p:sp>
        <p:nvSpPr>
          <p:cNvPr name="AutoShape 27" id="27"/>
          <p:cNvSpPr/>
          <p:nvPr/>
        </p:nvSpPr>
        <p:spPr>
          <a:xfrm rot="0" flipH="false" flipV="false">
            <a:off x="6985000" y="5270500"/>
            <a:ext cx="4572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E5E7EB"/>
                </a:solidFill>
                <a:latin typeface="Roboto"/>
                <a:ea typeface="Roboto"/>
                <a:cs typeface="Roboto"/>
                <a:sym typeface="Roboto"/>
              </a:rPr>
              <a:t>路线信息硬编码，无法实时更新，缺乏灵活性。</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0F19">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794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FFFFF"/>
                </a:solidFill>
                <a:latin typeface="Noto Sans SC"/>
                <a:ea typeface="Noto Sans SC"/>
                <a:cs typeface="Noto Sans SC"/>
                <a:sym typeface="Noto Sans SC"/>
              </a:rPr>
              <a:t>感谢观看</a:t>
            </a:r>
            <a:endParaRPr lang="en-US" sz="1100"/>
          </a:p>
        </p:txBody>
      </p:sp>
      <p:sp>
        <p:nvSpPr>
          <p:cNvPr name="AutoShape 5" id="5"/>
          <p:cNvSpPr/>
          <p:nvPr/>
        </p:nvSpPr>
        <p:spPr>
          <a:xfrm rot="0" flipH="false" flipV="false">
            <a:off x="5461000" y="3746500"/>
            <a:ext cx="1270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40005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D1D5DB"/>
                </a:solidFill>
                <a:latin typeface="Noto Sans SC"/>
                <a:ea typeface="Noto Sans SC"/>
                <a:cs typeface="Noto Sans SC"/>
                <a:sym typeface="Noto Sans SC"/>
              </a:rPr>
              <a:t>THANK YOU</a:t>
            </a:r>
            <a:endParaRPr lang="en-US" sz="1100"/>
          </a:p>
        </p:txBody>
      </p:sp>
      <p:pic>
        <p:nvPicPr>
          <p:cNvPr name="Picture 7" id="7"/>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