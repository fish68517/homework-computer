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notesSlides/notesSlide1.xml" Type="http://schemas.openxmlformats.org/officeDocument/2006/relationships/notesSlide"/><Relationship Id="rId17" Target="notesSlides/notesSlide2.xml" Type="http://schemas.openxmlformats.org/officeDocument/2006/relationships/notesSlide"/><Relationship Id="rId18" Target="notesSlides/notesSlide3.xml" Type="http://schemas.openxmlformats.org/officeDocument/2006/relationships/notesSlide"/><Relationship Id="rId19" Target="notesSlides/notesSlide4.xml" Type="http://schemas.openxmlformats.org/officeDocument/2006/relationships/notesSlide"/><Relationship Id="rId2" Target="viewProps.xml" Type="http://schemas.openxmlformats.org/officeDocument/2006/relationships/viewProps"/><Relationship Id="rId20" Target="notesSlides/notesSlide5.xml" Type="http://schemas.openxmlformats.org/officeDocument/2006/relationships/notesSlide"/><Relationship Id="rId21" Target="notesSlides/notesSlide6.xml" Type="http://schemas.openxmlformats.org/officeDocument/2006/relationships/notesSlide"/><Relationship Id="rId22" Target="notesSlides/notesSlide7.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大家好，今天我将向大家介绍我的课程设计项目——旅行信息顾问系统。这个系统旨在帮助用户规划从一个城市到另一个城市的最佳旅行路线。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让我们来了解一下这个项目的基本情况。这是一个旅行信息顾问系统，它的主要功能是为用户提供个性化的出行路线规划。用户只需要输入出发地、目的地，并选择一个偏好，比如最快到达、最省钱或者少换乘，系统就能计算出最佳路线。这个项目的核心技术是图论，我们把城市看作点，把交通线路看作线，从而将问题转化为一个寻找最短路径的经典算法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Next is the design of the data structure. To represent our cities and routes in the computer, I chose the graph data structure. Specifically, I used an adjacency matrix to store the graph. In this model, each city is a "Vertex", and I use an array to record all city names. Each route between cities is an "Edge", and I use a two-dimensional array, or matrix, to record detailed information between each pair of edges, such as how much money and time it takes to fly. The advantage of this approach is that the query speed is very fast, which is very suitable for applications of our scale.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算法是这个系统的大脑。我使用的是非常经典的Dijkstra算法，也就是迪杰斯特拉算法，来解决最短路径问题。这个算法本身是为单一权重设计的，但我对它进行了改造，让它能够处理多个目标。具体来说，就是在计算路径的时候，根据用户的不同选择——是想最快、最省钱还是最省事，动态地改变计算“距离”的方式。如果选时间，那就用小时数当权重；如果选成本，就用钱当权重；如果选最少中转，那就把每坐一次车都算1，这样走的次数最少就是最优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理论说完了，我们来看一个实际的运行效果。这里我模拟了一个用户场景：从北京出发去广州，最关心的是钱，所以选择了“最低成本”策略。大家可以看到，系统给出的最优路线是北京 -&gt; 西安 -&gt; 成都 -&gt; 广州，总费用是1000元。这个结果是正确的，因为它避开了昂贵的飞机，选择了性价比更高的火车中转方案。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来客观地评价一下这个系统。它的优点是很明显的：首先，它很通用，一个算法能解决三种不同的问题。其次，它的扩展性很好，未来想加入其他功能，比如按舒适度排序，也相对容易。而且，它的计算结果是精确的，能找到理论上的最优解。当然，它也有一些局限性。比如，它目前只能处理两个城市之间一种交通方式的情况，无法同时选择飞机和高铁。另外，它没有考虑到换乘过程中的等待时间，这在实际旅行中是很重要的。最后，所有的数据都是固定在代码里的，不能实时更新，这也是一个比较大的缺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我的介绍到此结束，感谢大家的观看！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svg" Type="http://schemas.openxmlformats.org/officeDocument/2006/relationships/image"/><Relationship Id="rId11" Target="../notesSlides/notesSlide2.xml" Type="http://schemas.openxmlformats.org/officeDocument/2006/relationships/notesSlid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7.svg" Type="http://schemas.openxmlformats.org/officeDocument/2006/relationships/image"/><Relationship Id="rId11" Target="../media/image4.png" Type="http://schemas.openxmlformats.org/officeDocument/2006/relationships/image"/><Relationship Id="rId12" Target="../media/image5.svg" Type="http://schemas.openxmlformats.org/officeDocument/2006/relationships/image"/><Relationship Id="rId13" Target="../notesSlides/notesSlide4.xml" Type="http://schemas.openxmlformats.org/officeDocument/2006/relationships/notesSlide"/><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7.svg" Type="http://schemas.openxmlformats.org/officeDocument/2006/relationships/image"/><Relationship Id="rId11" Target="../notesSlides/notesSlide6.xml" Type="http://schemas.openxmlformats.org/officeDocument/2006/relationships/notesSlide"/><Relationship Id="rId2" Target="../media/image1.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7.xml" Type="http://schemas.openxmlformats.org/officeDocument/2006/relationships/notesSlide"/><Relationship Id="rId4" Target="../media/image2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11827">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111827">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413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200">
                <a:solidFill>
                  <a:srgbClr val="FFFFFF"/>
                </a:solidFill>
                <a:latin typeface="Noto Sans SC"/>
                <a:ea typeface="Noto Sans SC"/>
                <a:cs typeface="Noto Sans SC"/>
                <a:sym typeface="Noto Sans SC"/>
              </a:rPr>
              <a:t>Travel Information Advisor System</a:t>
            </a:r>
            <a:endParaRPr lang="en-US" sz="1100"/>
          </a:p>
        </p:txBody>
      </p:sp>
      <p:cxnSp>
        <p:nvCxnSpPr>
          <p:cNvPr name="Connector 5" id="5"/>
          <p:cNvCxnSpPr/>
          <p:nvPr/>
        </p:nvCxnSpPr>
        <p:spPr>
          <a:xfrm rot="-34376" flipH="false" flipV="false">
            <a:off x="5461032" y="3359150"/>
            <a:ext cx="1270000" cy="12700"/>
          </a:xfrm>
          <a:prstGeom prst="straightConnector1">
            <a:avLst/>
          </a:prstGeom>
          <a:solidFill>
            <a:srgbClr val="DEE0E3">
              <a:alpha val="100000"/>
            </a:srgbClr>
          </a:solidFill>
          <a:ln w="25400" cmpd="sng" cap="flat">
            <a:solidFill>
              <a:srgbClr val="00BFFF">
                <a:alpha val="100000"/>
              </a:srgbClr>
            </a:solidFill>
            <a:prstDash val="solid"/>
            <a:round/>
            <a:headEnd type="none" w="lg" len="lg"/>
            <a:tailEnd type="none" w="lg" len="lg"/>
          </a:ln>
        </p:spPr>
      </p:cxnSp>
      <p:sp>
        <p:nvSpPr>
          <p:cNvPr name="AutoShape 6" id="6"/>
          <p:cNvSpPr/>
          <p:nvPr/>
        </p:nvSpPr>
        <p:spPr>
          <a:xfrm rot="0" flipH="false" flipV="false">
            <a:off x="1016000" y="3619500"/>
            <a:ext cx="1016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E5E7EB"/>
                </a:solidFill>
                <a:latin typeface="Noto Sans SC"/>
                <a:ea typeface="Noto Sans SC"/>
                <a:cs typeface="Noto Sans SC"/>
                <a:sym typeface="Noto Sans SC"/>
              </a:rPr>
              <a:t>Data Structures and Algorithms Course Design</a:t>
            </a:r>
            <a:endParaRPr lang="en-US" sz="1100"/>
          </a:p>
        </p:txBody>
      </p:sp>
      <p:sp>
        <p:nvSpPr>
          <p:cNvPr name="AutoShape 7" id="7"/>
          <p:cNvSpPr/>
          <p:nvPr/>
        </p:nvSpPr>
        <p:spPr>
          <a:xfrm rot="0" flipH="false" flipV="false">
            <a:off x="3556000" y="4445000"/>
            <a:ext cx="5080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9CA3AF"/>
                </a:solidFill>
                <a:latin typeface="Noto Sans SC"/>
                <a:ea typeface="Noto Sans SC"/>
                <a:cs typeface="Noto Sans SC"/>
                <a:sym typeface="Noto Sans SC"/>
              </a:rPr>
              <a:t>汇报人：XXX</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0A14">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0F1E">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762000"/>
            <a:ext cx="5080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Poppins"/>
                <a:ea typeface="Poppins"/>
                <a:cs typeface="Poppins"/>
                <a:sym typeface="Poppins"/>
              </a:rPr>
              <a:t>Project Introduction</a:t>
            </a:r>
            <a:endParaRPr lang="en-US" sz="1100"/>
          </a:p>
        </p:txBody>
      </p:sp>
      <p:cxnSp>
        <p:nvCxnSpPr>
          <p:cNvPr name="Connector 5" id="5"/>
          <p:cNvCxnSpPr/>
          <p:nvPr/>
        </p:nvCxnSpPr>
        <p:spPr>
          <a:xfrm rot="-4297" flipH="false" flipV="false">
            <a:off x="1016004" y="1454150"/>
            <a:ext cx="101600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350000" y="1905000"/>
            <a:ext cx="304800" cy="304800"/>
          </a:xfrm>
          <a:prstGeom prst="rect">
            <a:avLst/>
          </a:prstGeom>
        </p:spPr>
      </p:pic>
      <p:sp>
        <p:nvSpPr>
          <p:cNvPr name="AutoShape 7" id="7"/>
          <p:cNvSpPr/>
          <p:nvPr/>
        </p:nvSpPr>
        <p:spPr>
          <a:xfrm rot="0" flipH="false" flipV="false">
            <a:off x="6858000" y="1930400"/>
            <a:ext cx="4572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Roboto"/>
                <a:ea typeface="Roboto"/>
                <a:cs typeface="Roboto"/>
                <a:sym typeface="Roboto"/>
              </a:rPr>
              <a:t>Intelligent Route Planning</a:t>
            </a:r>
            <a:endParaRPr lang="en-US" sz="1100"/>
          </a:p>
        </p:txBody>
      </p:sp>
      <p:sp>
        <p:nvSpPr>
          <p:cNvPr name="AutoShape 8" id="8"/>
          <p:cNvSpPr/>
          <p:nvPr/>
        </p:nvSpPr>
        <p:spPr>
          <a:xfrm rot="0" flipH="false" flipV="false">
            <a:off x="6858000" y="2387600"/>
            <a:ext cx="4572000" cy="11176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E5E7EB"/>
                </a:solidFill>
                <a:latin typeface="Roboto"/>
                <a:ea typeface="Roboto"/>
                <a:cs typeface="Roboto"/>
                <a:sym typeface="Roboto"/>
              </a:rPr>
              <a:t>This project is a travel information advisory system based on graph theory. Its core function is to plan and recommend optimal travel routes for users based on their input of departure city, destination city, and specific preferences (such as shortest time, lowest cost, or fewest transfers).</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350000" y="3403600"/>
            <a:ext cx="304800" cy="304800"/>
          </a:xfrm>
          <a:prstGeom prst="rect">
            <a:avLst/>
          </a:prstGeom>
        </p:spPr>
      </p:pic>
      <p:sp>
        <p:nvSpPr>
          <p:cNvPr name="AutoShape 10" id="10"/>
          <p:cNvSpPr/>
          <p:nvPr/>
        </p:nvSpPr>
        <p:spPr>
          <a:xfrm rot="0" flipH="false" flipV="false">
            <a:off x="6858000" y="3708400"/>
            <a:ext cx="4572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Roboto"/>
                <a:ea typeface="Roboto"/>
                <a:cs typeface="Roboto"/>
                <a:sym typeface="Roboto"/>
              </a:rPr>
              <a:t>Core Technical Architecture</a:t>
            </a:r>
            <a:endParaRPr lang="en-US" sz="1100"/>
          </a:p>
        </p:txBody>
      </p:sp>
      <p:sp>
        <p:nvSpPr>
          <p:cNvPr name="AutoShape 11" id="11"/>
          <p:cNvSpPr/>
          <p:nvPr/>
        </p:nvSpPr>
        <p:spPr>
          <a:xfrm rot="0" flipH="false" flipV="false">
            <a:off x="6858000" y="4165600"/>
            <a:ext cx="4572000" cy="11176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E5E7EB"/>
                </a:solidFill>
                <a:latin typeface="Roboto"/>
                <a:ea typeface="Roboto"/>
                <a:cs typeface="Roboto"/>
                <a:sym typeface="Roboto"/>
              </a:rPr>
              <a:t>The technical core of the system lies in the application of</a:t>
            </a:r>
            <a:r>
              <a:rPr lang="en-US" b="true" i="false" strike="noStrike" u="none" sz="1400">
                <a:solidFill>
                  <a:srgbClr val="E5E7EB"/>
                </a:solidFill>
                <a:latin typeface="Roboto"/>
                <a:ea typeface="Roboto"/>
                <a:cs typeface="Roboto"/>
                <a:sym typeface="Roboto"/>
              </a:rPr>
              <a:t>Graph</a:t>
            </a:r>
            <a:r>
              <a:rPr lang="en-US" b="false" i="false" strike="noStrike" u="none" sz="1400">
                <a:solidFill>
                  <a:srgbClr val="E5E7EB"/>
                </a:solidFill>
                <a:latin typeface="Roboto"/>
                <a:ea typeface="Roboto"/>
                <a:cs typeface="Roboto"/>
                <a:sym typeface="Roboto"/>
              </a:rPr>
              <a:t>data structure, especially the variant use of</a:t>
            </a:r>
            <a:r>
              <a:rPr lang="en-US" b="true" i="false" strike="noStrike" u="none" sz="1400">
                <a:solidFill>
                  <a:srgbClr val="E5E7EB"/>
                </a:solidFill>
                <a:latin typeface="Roboto"/>
                <a:ea typeface="Roboto"/>
                <a:cs typeface="Roboto"/>
                <a:sym typeface="Roboto"/>
              </a:rPr>
              <a:t>shortest path algorithm</a:t>
            </a:r>
            <a:r>
              <a:rPr lang="en-US" b="false" i="false" strike="noStrike" u="none" sz="1400">
                <a:solidFill>
                  <a:srgbClr val="E5E7EB"/>
                </a:solidFill>
                <a:latin typeface="Roboto"/>
                <a:ea typeface="Roboto"/>
                <a:cs typeface="Roboto"/>
                <a:sym typeface="Roboto"/>
              </a:rPr>
              <a:t>. We abstract real-world cities as vertices of the graph and transportation routes between cities as weighted edges. The weights are dynamically adjusted according to different strategies (time, cost, number of transfers).</a:t>
            </a:r>
            <a:endParaRPr lang="en-US" sz="1100"/>
          </a:p>
        </p:txBody>
      </p:sp>
      <p:cxnSp>
        <p:nvCxnSpPr>
          <p:cNvPr name="Connector 12" id="12"/>
          <p:cNvCxnSpPr/>
          <p:nvPr/>
        </p:nvCxnSpPr>
        <p:spPr>
          <a:xfrm rot="-9046" flipH="false" flipV="false">
            <a:off x="6350008" y="5429250"/>
            <a:ext cx="4826017" cy="12700"/>
          </a:xfrm>
          <a:prstGeom prst="straightConnector1">
            <a:avLst/>
          </a:prstGeom>
          <a:solidFill>
            <a:srgbClr val="DEE0E3">
              <a:alpha val="100000"/>
            </a:srgbClr>
          </a:solidFill>
          <a:ln w="12700" cmpd="sng" cap="flat">
            <a:solidFill>
              <a:srgbClr val="00BFFF">
                <a:alpha val="30000"/>
              </a:srgbClr>
            </a:solidFill>
            <a:prstDash val="dash"/>
            <a:round/>
            <a:headEnd type="none" w="med" len="med"/>
            <a:tailEnd type="none" w="med" len="med"/>
          </a:ln>
        </p:spPr>
      </p:cxn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350000" y="5689600"/>
            <a:ext cx="203200" cy="203200"/>
          </a:xfrm>
          <a:prstGeom prst="rect">
            <a:avLst/>
          </a:prstGeom>
        </p:spPr>
      </p:pic>
      <p:sp>
        <p:nvSpPr>
          <p:cNvPr name="AutoShape 14" id="14"/>
          <p:cNvSpPr/>
          <p:nvPr/>
        </p:nvSpPr>
        <p:spPr>
          <a:xfrm rot="0" flipH="false" flipV="false">
            <a:off x="6705600" y="5689600"/>
            <a:ext cx="4318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5E7EB"/>
                </a:solidFill>
                <a:latin typeface="Roboto"/>
                <a:ea typeface="Roboto"/>
                <a:cs typeface="Roboto"/>
                <a:sym typeface="Roboto"/>
              </a:rPr>
              <a:t>Personalized strategies to meet diverse travel needs</a:t>
            </a:r>
            <a:endParaRPr lang="en-US" sz="1100"/>
          </a:p>
        </p:txBody>
      </p:sp>
      <p:pic>
        <p:nvPicPr>
          <p:cNvPr name="Picture 15" id="15"/>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350000" y="6134100"/>
            <a:ext cx="203200" cy="203200"/>
          </a:xfrm>
          <a:prstGeom prst="rect">
            <a:avLst/>
          </a:prstGeom>
        </p:spPr>
      </p:pic>
      <p:sp>
        <p:nvSpPr>
          <p:cNvPr name="AutoShape 16" id="16"/>
          <p:cNvSpPr/>
          <p:nvPr/>
        </p:nvSpPr>
        <p:spPr>
          <a:xfrm rot="0" flipH="false" flipV="false">
            <a:off x="6705600" y="6134100"/>
            <a:ext cx="4318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5E7EB"/>
                </a:solidFill>
                <a:latin typeface="Roboto"/>
                <a:ea typeface="Roboto"/>
                <a:cs typeface="Roboto"/>
                <a:sym typeface="Roboto"/>
              </a:rPr>
              <a:t>Efficient algorithms for real-time optimal solution calculation</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11827">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111827">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762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Poppins"/>
                <a:ea typeface="Poppins"/>
                <a:cs typeface="Poppins"/>
                <a:sym typeface="Poppins"/>
              </a:rPr>
              <a:t>Data Structure Design</a:t>
            </a:r>
            <a:endParaRPr lang="en-US" sz="1100"/>
          </a:p>
        </p:txBody>
      </p:sp>
      <p:cxnSp>
        <p:nvCxnSpPr>
          <p:cNvPr name="Connector 5" id="5"/>
          <p:cNvCxnSpPr/>
          <p:nvPr/>
        </p:nvCxnSpPr>
        <p:spPr>
          <a:xfrm rot="-4297" flipH="false" flipV="false">
            <a:off x="1016004" y="1454150"/>
            <a:ext cx="101600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sp>
        <p:nvSpPr>
          <p:cNvPr name="AutoShape 6" id="6"/>
          <p:cNvSpPr/>
          <p:nvPr/>
        </p:nvSpPr>
        <p:spPr>
          <a:xfrm rot="0" flipH="false" flipV="false">
            <a:off x="1016000" y="1651000"/>
            <a:ext cx="10160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600">
                <a:solidFill>
                  <a:srgbClr val="E5E7EB"/>
                </a:solidFill>
                <a:latin typeface="Roboto"/>
                <a:ea typeface="Roboto"/>
                <a:cs typeface="Roboto"/>
                <a:sym typeface="Roboto"/>
              </a:rPr>
              <a:t>To effectively represent cities, transportation routes, and their multi-dimensional attributes, this project adopts a</a:t>
            </a:r>
            <a:r>
              <a:rPr lang="en-US" b="true" i="false" strike="noStrike" u="none" sz="1600">
                <a:solidFill>
                  <a:srgbClr val="E5E7EB"/>
                </a:solidFill>
                <a:latin typeface="Roboto"/>
                <a:ea typeface="Roboto"/>
                <a:cs typeface="Roboto"/>
                <a:sym typeface="Roboto"/>
              </a:rPr>
              <a:t>Graph</a:t>
            </a:r>
            <a:r>
              <a:rPr lang="en-US" b="false" i="false" strike="noStrike" u="none" sz="1600">
                <a:solidFill>
                  <a:srgbClr val="E5E7EB"/>
                </a:solidFill>
                <a:latin typeface="Roboto"/>
                <a:ea typeface="Roboto"/>
                <a:cs typeface="Roboto"/>
                <a:sym typeface="Roboto"/>
              </a:rPr>
              <a:t>as the logical structure and implements physical storage through an</a:t>
            </a:r>
            <a:r>
              <a:rPr lang="en-US" b="true" i="false" strike="noStrike" u="none" sz="1600">
                <a:solidFill>
                  <a:srgbClr val="E5E7EB"/>
                </a:solidFill>
                <a:latin typeface="Roboto"/>
                <a:ea typeface="Roboto"/>
                <a:cs typeface="Roboto"/>
                <a:sym typeface="Roboto"/>
              </a:rPr>
              <a:t>Adjacency Matrix</a:t>
            </a:r>
            <a:r>
              <a:rPr lang="en-US" b="false" i="false" strike="noStrike" u="none" sz="1600">
                <a:solidFill>
                  <a:srgbClr val="E5E7EB"/>
                </a:solidFill>
                <a:latin typeface="Roboto"/>
                <a:ea typeface="Roboto"/>
                <a:cs typeface="Roboto"/>
                <a:sym typeface="Roboto"/>
              </a:rPr>
              <a:t>.</a:t>
            </a:r>
            <a:endParaRPr lang="en-US" sz="1100"/>
          </a:p>
        </p:txBody>
      </p:sp>
      <p:sp>
        <p:nvSpPr>
          <p:cNvPr name="AutoShape 7" id="7"/>
          <p:cNvSpPr/>
          <p:nvPr/>
        </p:nvSpPr>
        <p:spPr>
          <a:xfrm rot="0" flipH="false" flipV="false">
            <a:off x="1016000" y="2667000"/>
            <a:ext cx="4826000" cy="2286000"/>
          </a:xfrm>
          <a:prstGeom prst="roundRect">
            <a:avLst>
              <a:gd name="adj" fmla="val 4444"/>
            </a:avLst>
          </a:prstGeom>
          <a:solidFill>
            <a:srgbClr val="1F2937">
              <a:alpha val="70000"/>
            </a:srgbClr>
          </a:solidFill>
          <a:ln w="12700" cmpd="sng" cap="flat">
            <a:solidFill>
              <a:srgbClr val="00BFFF">
                <a:alpha val="4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270000" y="2921000"/>
            <a:ext cx="304800" cy="304800"/>
          </a:xfrm>
          <a:prstGeom prst="rect">
            <a:avLst/>
          </a:prstGeom>
        </p:spPr>
      </p:pic>
      <p:sp>
        <p:nvSpPr>
          <p:cNvPr name="AutoShape 9" id="9"/>
          <p:cNvSpPr/>
          <p:nvPr/>
        </p:nvSpPr>
        <p:spPr>
          <a:xfrm rot="0" flipH="false" flipV="false">
            <a:off x="1701800" y="2870200"/>
            <a:ext cx="381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Roboto"/>
                <a:ea typeface="Roboto"/>
                <a:cs typeface="Roboto"/>
                <a:sym typeface="Roboto"/>
              </a:rPr>
              <a:t>Vertex</a:t>
            </a:r>
            <a:endParaRPr lang="en-US" sz="1100"/>
          </a:p>
        </p:txBody>
      </p:sp>
      <p:sp>
        <p:nvSpPr>
          <p:cNvPr name="AutoShape 10" id="10"/>
          <p:cNvSpPr/>
          <p:nvPr/>
        </p:nvSpPr>
        <p:spPr>
          <a:xfrm rot="0" flipH="false" flipV="false">
            <a:off x="1270000" y="3403600"/>
            <a:ext cx="4318000" cy="2794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400">
                <a:solidFill>
                  <a:srgbClr val="E5E7EB"/>
                </a:solidFill>
                <a:latin typeface="Roboto"/>
                <a:ea typeface="Roboto"/>
                <a:cs typeface="Roboto"/>
                <a:sym typeface="Roboto"/>
              </a:rPr>
              <a:t>Represents:</a:t>
            </a:r>
            <a:r>
              <a:rPr lang="en-US" b="false" i="false" strike="noStrike" u="none" sz="1400">
                <a:solidFill>
                  <a:srgbClr val="E5E7EB"/>
                </a:solidFill>
                <a:latin typeface="Roboto"/>
                <a:ea typeface="Roboto"/>
                <a:cs typeface="Roboto"/>
                <a:sym typeface="Roboto"/>
              </a:rPr>
              <a:t>A city.</a:t>
            </a:r>
            <a:endParaRPr lang="en-US" sz="1100"/>
          </a:p>
        </p:txBody>
      </p:sp>
      <p:sp>
        <p:nvSpPr>
          <p:cNvPr name="AutoShape 11" id="11"/>
          <p:cNvSpPr/>
          <p:nvPr/>
        </p:nvSpPr>
        <p:spPr>
          <a:xfrm rot="0" flipH="false" flipV="false">
            <a:off x="1270000" y="3810000"/>
            <a:ext cx="4318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400">
                <a:solidFill>
                  <a:srgbClr val="E5E7EB"/>
                </a:solidFill>
                <a:latin typeface="Roboto"/>
                <a:ea typeface="Roboto"/>
                <a:cs typeface="Roboto"/>
                <a:sym typeface="Roboto"/>
              </a:rPr>
              <a:t>Storage:</a:t>
            </a:r>
            <a:r>
              <a:rPr lang="en-US" b="false" i="false" strike="noStrike" u="none" sz="1400">
                <a:solidFill>
                  <a:srgbClr val="E5E7EB"/>
                </a:solidFill>
                <a:latin typeface="Roboto"/>
                <a:ea typeface="Roboto"/>
                <a:cs typeface="Roboto"/>
                <a:sym typeface="Roboto"/>
              </a:rPr>
              <a:t>A one-dimensional array `cityNames` stores city names, with the array index as the city's unique ID.</a:t>
            </a:r>
            <a:endParaRPr lang="en-US" sz="1100"/>
          </a:p>
        </p:txBody>
      </p:sp>
      <p:sp>
        <p:nvSpPr>
          <p:cNvPr name="AutoShape 12" id="12"/>
          <p:cNvSpPr/>
          <p:nvPr/>
        </p:nvSpPr>
        <p:spPr>
          <a:xfrm rot="0" flipH="false" flipV="false">
            <a:off x="6350000" y="2667000"/>
            <a:ext cx="4826000" cy="2286000"/>
          </a:xfrm>
          <a:prstGeom prst="roundRect">
            <a:avLst>
              <a:gd name="adj" fmla="val 4444"/>
            </a:avLst>
          </a:prstGeom>
          <a:solidFill>
            <a:srgbClr val="1F2937">
              <a:alpha val="70000"/>
            </a:srgbClr>
          </a:solidFill>
          <a:ln w="12700" cmpd="sng" cap="flat">
            <a:solidFill>
              <a:srgbClr val="00BFFF">
                <a:alpha val="4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2921000"/>
            <a:ext cx="304800" cy="304800"/>
          </a:xfrm>
          <a:prstGeom prst="rect">
            <a:avLst/>
          </a:prstGeom>
        </p:spPr>
      </p:pic>
      <p:sp>
        <p:nvSpPr>
          <p:cNvPr name="AutoShape 14" id="14"/>
          <p:cNvSpPr/>
          <p:nvPr/>
        </p:nvSpPr>
        <p:spPr>
          <a:xfrm rot="0" flipH="false" flipV="false">
            <a:off x="7035800" y="2870200"/>
            <a:ext cx="381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Roboto"/>
                <a:ea typeface="Roboto"/>
                <a:cs typeface="Roboto"/>
                <a:sym typeface="Roboto"/>
              </a:rPr>
              <a:t>Edge</a:t>
            </a:r>
            <a:endParaRPr lang="en-US" sz="1100"/>
          </a:p>
        </p:txBody>
      </p:sp>
      <p:sp>
        <p:nvSpPr>
          <p:cNvPr name="AutoShape 15" id="15"/>
          <p:cNvSpPr/>
          <p:nvPr/>
        </p:nvSpPr>
        <p:spPr>
          <a:xfrm rot="0" flipH="false" flipV="false">
            <a:off x="6604000" y="3403600"/>
            <a:ext cx="4318000" cy="2794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400">
                <a:solidFill>
                  <a:srgbClr val="E5E7EB"/>
                </a:solidFill>
                <a:latin typeface="Roboto"/>
                <a:ea typeface="Roboto"/>
                <a:cs typeface="Roboto"/>
                <a:sym typeface="Roboto"/>
              </a:rPr>
              <a:t>Represents:</a:t>
            </a:r>
            <a:r>
              <a:rPr lang="en-US" b="false" i="false" strike="noStrike" u="none" sz="1400">
                <a:solidFill>
                  <a:srgbClr val="E5E7EB"/>
                </a:solidFill>
                <a:latin typeface="Roboto"/>
                <a:ea typeface="Roboto"/>
                <a:cs typeface="Roboto"/>
                <a:sym typeface="Roboto"/>
              </a:rPr>
              <a:t>A transportation route between cities.</a:t>
            </a:r>
            <a:endParaRPr lang="en-US" sz="1100"/>
          </a:p>
        </p:txBody>
      </p:sp>
      <p:sp>
        <p:nvSpPr>
          <p:cNvPr name="AutoShape 16" id="16"/>
          <p:cNvSpPr/>
          <p:nvPr/>
        </p:nvSpPr>
        <p:spPr>
          <a:xfrm rot="0" flipH="false" flipV="false">
            <a:off x="6604000" y="3810000"/>
            <a:ext cx="4572000" cy="1016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400">
                <a:solidFill>
                  <a:srgbClr val="E5E7EB"/>
                </a:solidFill>
                <a:latin typeface="Roboto"/>
                <a:ea typeface="Roboto"/>
                <a:cs typeface="Roboto"/>
                <a:sym typeface="Roboto"/>
              </a:rPr>
              <a:t>Storage:</a:t>
            </a:r>
            <a:r>
              <a:rPr lang="en-US" b="false" i="false" strike="noStrike" u="none" sz="1400">
                <a:solidFill>
                  <a:srgbClr val="E5E7EB"/>
                </a:solidFill>
                <a:latin typeface="Roboto"/>
                <a:ea typeface="Roboto"/>
                <a:cs typeface="Roboto"/>
                <a:sym typeface="Roboto"/>
              </a:rPr>
              <a:t>A 2D `matrix` of `Route` structures, containing `cost`, `time`, and `type` (transportation mode).</a:t>
            </a:r>
            <a:endParaRPr lang="en-US" sz="1100"/>
          </a:p>
        </p:txBody>
      </p:sp>
      <p:cxnSp>
        <p:nvCxnSpPr>
          <p:cNvPr name="Connector 17" id="17"/>
          <p:cNvCxnSpPr/>
          <p:nvPr/>
        </p:nvCxnSpPr>
        <p:spPr>
          <a:xfrm rot="-4297" flipH="false" flipV="false">
            <a:off x="1016004" y="5200650"/>
            <a:ext cx="10160000" cy="12700"/>
          </a:xfrm>
          <a:prstGeom prst="straightConnector1">
            <a:avLst/>
          </a:prstGeom>
          <a:solidFill>
            <a:srgbClr val="DEE0E3">
              <a:alpha val="100000"/>
            </a:srgbClr>
          </a:solidFill>
          <a:ln w="12700" cmpd="sng" cap="flat">
            <a:solidFill>
              <a:srgbClr val="00BFFF">
                <a:alpha val="30000"/>
              </a:srgbClr>
            </a:solidFill>
            <a:prstDash val="dash"/>
            <a:round/>
            <a:headEnd type="none" w="med" len="med"/>
            <a:tailEnd type="none" w="med" len="med"/>
          </a:ln>
        </p:spPr>
      </p:cxn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5461000"/>
            <a:ext cx="254000" cy="254000"/>
          </a:xfrm>
          <a:prstGeom prst="rect">
            <a:avLst/>
          </a:prstGeom>
        </p:spPr>
      </p:pic>
      <p:sp>
        <p:nvSpPr>
          <p:cNvPr name="AutoShape 19" id="19"/>
          <p:cNvSpPr/>
          <p:nvPr/>
        </p:nvSpPr>
        <p:spPr>
          <a:xfrm rot="0" flipH="false" flipV="false">
            <a:off x="1397000" y="5410200"/>
            <a:ext cx="10160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400">
                <a:solidFill>
                  <a:srgbClr val="E5E7EB"/>
                </a:solidFill>
                <a:latin typeface="Roboto"/>
                <a:ea typeface="Roboto"/>
                <a:cs typeface="Roboto"/>
                <a:sym typeface="Roboto"/>
              </a:rPr>
              <a:t>Design Rationale:</a:t>
            </a:r>
            <a:r>
              <a:rPr lang="en-US" b="false" i="false" strike="noStrike" u="none" sz="1400">
                <a:solidFill>
                  <a:srgbClr val="E5E7EB"/>
                </a:solidFill>
                <a:latin typeface="Roboto"/>
                <a:ea typeface="Roboto"/>
                <a:cs typeface="Roboto"/>
                <a:sym typeface="Roboto"/>
              </a:rPr>
              <a:t>The adjacency matrix enables O(1) time complexity for fast path queries between any two points, making it efficient and intuitive for scenarios with a small number of cities.</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0A14">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alphaModFix amt="30000"/>
          </a:blip>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1016000" y="660400"/>
            <a:ext cx="8890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400">
                <a:solidFill>
                  <a:srgbClr val="00BFFF"/>
                </a:solidFill>
                <a:latin typeface="Poppins"/>
                <a:ea typeface="Poppins"/>
                <a:cs typeface="Poppins"/>
                <a:sym typeface="Poppins"/>
              </a:rPr>
              <a:t>Algorithm Design and Implementation</a:t>
            </a:r>
            <a:endParaRPr lang="en-US" sz="1100"/>
          </a:p>
        </p:txBody>
      </p:sp>
      <p:cxnSp>
        <p:nvCxnSpPr>
          <p:cNvPr name="Connector 4" id="4"/>
          <p:cNvCxnSpPr/>
          <p:nvPr/>
        </p:nvCxnSpPr>
        <p:spPr>
          <a:xfrm rot="-4297" flipH="false" flipV="false">
            <a:off x="1016004" y="1454150"/>
            <a:ext cx="101600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sp>
        <p:nvSpPr>
          <p:cNvPr name="AutoShape 5" id="5"/>
          <p:cNvSpPr/>
          <p:nvPr/>
        </p:nvSpPr>
        <p:spPr>
          <a:xfrm rot="0" flipH="false" flipV="false">
            <a:off x="1016000" y="1676400"/>
            <a:ext cx="5334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FFFFFF"/>
                </a:solidFill>
                <a:latin typeface="Roboto"/>
                <a:ea typeface="Roboto"/>
                <a:cs typeface="Roboto"/>
                <a:sym typeface="Roboto"/>
              </a:rPr>
              <a:t>The Core of Dijkstra's Algorithm</a:t>
            </a:r>
            <a:endParaRPr lang="en-US" sz="1100"/>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86000"/>
            <a:ext cx="304800" cy="304800"/>
          </a:xfrm>
          <a:prstGeom prst="rect">
            <a:avLst/>
          </a:prstGeom>
        </p:spPr>
      </p:pic>
      <p:sp>
        <p:nvSpPr>
          <p:cNvPr name="AutoShape 7" id="7"/>
          <p:cNvSpPr/>
          <p:nvPr/>
        </p:nvSpPr>
        <p:spPr>
          <a:xfrm rot="0" flipH="false" flipV="false">
            <a:off x="1447800" y="2273300"/>
            <a:ext cx="4826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Roboto"/>
                <a:ea typeface="Roboto"/>
                <a:cs typeface="Roboto"/>
                <a:sym typeface="Roboto"/>
              </a:rPr>
              <a:t>Core Idea</a:t>
            </a:r>
            <a:endParaRPr lang="en-US" sz="1100"/>
          </a:p>
        </p:txBody>
      </p:sp>
      <p:sp>
        <p:nvSpPr>
          <p:cNvPr name="AutoShape 8" id="8"/>
          <p:cNvSpPr/>
          <p:nvPr/>
        </p:nvSpPr>
        <p:spPr>
          <a:xfrm rot="0" flipH="false" flipV="false">
            <a:off x="1447800" y="2667000"/>
            <a:ext cx="4826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E5E7EB"/>
                </a:solidFill>
                <a:latin typeface="Roboto"/>
                <a:ea typeface="Roboto"/>
                <a:cs typeface="Roboto"/>
                <a:sym typeface="Roboto"/>
              </a:rPr>
              <a:t>1.</a:t>
            </a:r>
            <a:r>
              <a:rPr lang="en-US" b="true" i="false" strike="noStrike" u="none" sz="1400">
                <a:solidFill>
                  <a:srgbClr val="E5E7EB"/>
                </a:solidFill>
                <a:latin typeface="Roboto"/>
                <a:ea typeface="Roboto"/>
                <a:cs typeface="Roboto"/>
                <a:sym typeface="Roboto"/>
              </a:rPr>
              <a:t>Initialization</a:t>
            </a:r>
            <a:r>
              <a:rPr lang="en-US" b="false" i="false" strike="noStrike" u="none" sz="1400">
                <a:solidFill>
                  <a:srgbClr val="E5E7EB"/>
                </a:solidFill>
                <a:latin typeface="Roboto"/>
                <a:ea typeface="Roboto"/>
                <a:cs typeface="Roboto"/>
                <a:sym typeface="Roboto"/>
              </a:rPr>
              <a:t>: Create adist[]array for minimum weights, avisited[]array for visited states, and aparent[]array for path predecessors.</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429000"/>
            <a:ext cx="304800" cy="304800"/>
          </a:xfrm>
          <a:prstGeom prst="rect">
            <a:avLst/>
          </a:prstGeom>
        </p:spPr>
      </p:pic>
      <p:sp>
        <p:nvSpPr>
          <p:cNvPr name="AutoShape 10" id="10"/>
          <p:cNvSpPr/>
          <p:nvPr/>
        </p:nvSpPr>
        <p:spPr>
          <a:xfrm rot="0" flipH="false" flipV="false">
            <a:off x="1447800" y="3556000"/>
            <a:ext cx="4826000" cy="330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Roboto"/>
                <a:ea typeface="Roboto"/>
                <a:cs typeface="Roboto"/>
                <a:sym typeface="Roboto"/>
              </a:rPr>
              <a:t>Dynamic Weight Selection</a:t>
            </a:r>
            <a:endParaRPr lang="en-US" sz="1100"/>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447800" y="3873500"/>
            <a:ext cx="203200" cy="203200"/>
          </a:xfrm>
          <a:prstGeom prst="rect">
            <a:avLst/>
          </a:prstGeom>
        </p:spPr>
      </p:pic>
      <p:sp>
        <p:nvSpPr>
          <p:cNvPr name="AutoShape 12" id="12"/>
          <p:cNvSpPr/>
          <p:nvPr/>
        </p:nvSpPr>
        <p:spPr>
          <a:xfrm rot="0" flipH="false" flipV="false">
            <a:off x="1778000" y="4000500"/>
            <a:ext cx="4318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E5E7EB"/>
                </a:solidFill>
                <a:latin typeface="Roboto"/>
                <a:ea typeface="Roboto"/>
                <a:cs typeface="Roboto"/>
                <a:sym typeface="Roboto"/>
              </a:rPr>
              <a:t>Shortest Time:</a:t>
            </a:r>
            <a:r>
              <a:rPr lang="en-US" b="false" i="false" strike="noStrike" u="none" sz="1400">
                <a:solidFill>
                  <a:srgbClr val="E5E7EB"/>
                </a:solidFill>
                <a:latin typeface="Roboto"/>
                <a:ea typeface="Roboto"/>
                <a:cs typeface="Roboto"/>
                <a:sym typeface="Roboto"/>
              </a:rPr>
              <a:t>Weight = Route Duration</a:t>
            </a:r>
            <a:endParaRPr lang="en-US" sz="1100"/>
          </a:p>
        </p:txBody>
      </p:sp>
      <p:pic>
        <p:nvPicPr>
          <p:cNvPr name="Picture 13" id="13"/>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447800" y="4381500"/>
            <a:ext cx="203200" cy="203200"/>
          </a:xfrm>
          <a:prstGeom prst="rect">
            <a:avLst/>
          </a:prstGeom>
        </p:spPr>
      </p:pic>
      <p:sp>
        <p:nvSpPr>
          <p:cNvPr name="AutoShape 14" id="14"/>
          <p:cNvSpPr/>
          <p:nvPr/>
        </p:nvSpPr>
        <p:spPr>
          <a:xfrm rot="0" flipH="false" flipV="false">
            <a:off x="1778000" y="4508500"/>
            <a:ext cx="4318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E5E7EB"/>
                </a:solidFill>
                <a:latin typeface="Roboto"/>
                <a:ea typeface="Roboto"/>
                <a:cs typeface="Roboto"/>
                <a:sym typeface="Roboto"/>
              </a:rPr>
              <a:t>Lowest Cost:</a:t>
            </a:r>
            <a:r>
              <a:rPr lang="en-US" b="false" i="false" strike="noStrike" u="none" sz="1400">
                <a:solidFill>
                  <a:srgbClr val="E5E7EB"/>
                </a:solidFill>
                <a:latin typeface="Roboto"/>
                <a:ea typeface="Roboto"/>
                <a:cs typeface="Roboto"/>
                <a:sym typeface="Roboto"/>
              </a:rPr>
              <a:t>Weight = Route Cost</a:t>
            </a:r>
            <a:endParaRPr lang="en-US" sz="1100"/>
          </a:p>
        </p:txBody>
      </p:sp>
      <p:pic>
        <p:nvPicPr>
          <p:cNvPr name="Picture 15" id="15"/>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447800" y="4889500"/>
            <a:ext cx="203200" cy="203200"/>
          </a:xfrm>
          <a:prstGeom prst="rect">
            <a:avLst/>
          </a:prstGeom>
        </p:spPr>
      </p:pic>
      <p:sp>
        <p:nvSpPr>
          <p:cNvPr name="AutoShape 16" id="16"/>
          <p:cNvSpPr/>
          <p:nvPr/>
        </p:nvSpPr>
        <p:spPr>
          <a:xfrm rot="0" flipH="false" flipV="false">
            <a:off x="1778000" y="5016500"/>
            <a:ext cx="4572000" cy="279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E5E7EB"/>
                </a:solidFill>
                <a:latin typeface="Roboto"/>
                <a:ea typeface="Roboto"/>
                <a:cs typeface="Roboto"/>
                <a:sym typeface="Roboto"/>
              </a:rPr>
              <a:t>Fewest Transfers:</a:t>
            </a:r>
            <a:r>
              <a:rPr lang="en-US" b="false" i="false" strike="noStrike" u="none" sz="1400">
                <a:solidFill>
                  <a:srgbClr val="E5E7EB"/>
                </a:solidFill>
                <a:latin typeface="Roboto"/>
                <a:ea typeface="Roboto"/>
                <a:cs typeface="Roboto"/>
                <a:sym typeface="Roboto"/>
              </a:rPr>
              <a:t>Weight = 1 (each edge)</a:t>
            </a:r>
            <a:endParaRPr lang="en-US" sz="1100"/>
          </a:p>
        </p:txBody>
      </p:sp>
      <p:cxnSp>
        <p:nvCxnSpPr>
          <p:cNvPr name="Connector 17" id="17"/>
          <p:cNvCxnSpPr/>
          <p:nvPr/>
        </p:nvCxnSpPr>
        <p:spPr>
          <a:xfrm rot="5388540" flipH="false" flipV="false">
            <a:off x="4191000" y="3676661"/>
            <a:ext cx="3810000" cy="12700"/>
          </a:xfrm>
          <a:prstGeom prst="straightConnector1">
            <a:avLst/>
          </a:prstGeom>
          <a:solidFill>
            <a:srgbClr val="DEE0E3">
              <a:alpha val="100000"/>
            </a:srgbClr>
          </a:solidFill>
          <a:ln w="12700" cmpd="sng" cap="flat">
            <a:solidFill>
              <a:srgbClr val="00BFFF">
                <a:alpha val="30000"/>
              </a:srgbClr>
            </a:solidFill>
            <a:prstDash val="dash"/>
            <a:round/>
            <a:headEnd type="none" w="med" len="med"/>
            <a:tailEnd type="none" w="med" len="med"/>
          </a:ln>
        </p:spPr>
      </p:cxnSp>
      <p:sp>
        <p:nvSpPr>
          <p:cNvPr name="AutoShape 18" id="18"/>
          <p:cNvSpPr/>
          <p:nvPr/>
        </p:nvSpPr>
        <p:spPr>
          <a:xfrm rot="0" flipH="false" flipV="false">
            <a:off x="6604000" y="1676400"/>
            <a:ext cx="5334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FFFFFF"/>
                </a:solidFill>
                <a:latin typeface="Roboto"/>
                <a:ea typeface="Roboto"/>
                <a:cs typeface="Roboto"/>
                <a:sym typeface="Roboto"/>
              </a:rPr>
              <a:t>Iteration Process</a:t>
            </a:r>
            <a:endParaRPr lang="en-US" sz="1100"/>
          </a:p>
        </p:txBody>
      </p:sp>
      <p:sp>
        <p:nvSpPr>
          <p:cNvPr name="AutoShape 19" id="19"/>
          <p:cNvSpPr/>
          <p:nvPr/>
        </p:nvSpPr>
        <p:spPr>
          <a:xfrm rot="0" flipH="false" flipV="false">
            <a:off x="6604000" y="4953000"/>
            <a:ext cx="4826000" cy="1143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300">
                <a:solidFill>
                  <a:srgbClr val="D1D5DB"/>
                </a:solidFill>
                <a:latin typeface="Roboto"/>
                <a:ea typeface="Roboto"/>
                <a:cs typeface="Roboto"/>
                <a:sym typeface="Roboto"/>
              </a:rPr>
              <a:t>1. Find the unvisited nodeuwith the smallestdistvalue.</a:t>
            </a:r>
            <a:r>
              <a:rPr lang="en-US" b="false" i="false" strike="noStrike" u="none" sz="1300">
                <a:solidFill>
                  <a:srgbClr val="D1D5DB"/>
                </a:solidFill>
                <a:latin typeface="Roboto"/>
                <a:ea typeface="Roboto"/>
                <a:cs typeface="Roboto"/>
                <a:sym typeface="Roboto"/>
              </a:rPr>
              <a:t/>
            </a:r>
            <a:br>
              <a:rPr lang="en-US" b="false" i="false" strike="noStrike" u="none" sz="1300">
                <a:solidFill>
                  <a:srgbClr val="D1D5DB"/>
                </a:solidFill>
                <a:latin typeface="Roboto"/>
                <a:ea typeface="Roboto"/>
                <a:cs typeface="Roboto"/>
                <a:sym typeface="Roboto"/>
              </a:rPr>
            </a:br>
            <a:r>
              <a:rPr lang="en-US" b="false" i="false" strike="noStrike" u="none" sz="1300">
                <a:solidFill>
                  <a:srgbClr val="D1D5DB"/>
                </a:solidFill>
                <a:latin typeface="Roboto"/>
                <a:ea typeface="Roboto"/>
                <a:cs typeface="Roboto"/>
                <a:sym typeface="Roboto"/>
              </a:rPr>
              <a:t>2. Markuas visited.</a:t>
            </a:r>
            <a:r>
              <a:rPr lang="en-US" b="false" i="false" strike="noStrike" u="none" sz="1300">
                <a:solidFill>
                  <a:srgbClr val="D1D5DB"/>
                </a:solidFill>
                <a:latin typeface="Roboto"/>
                <a:ea typeface="Roboto"/>
                <a:cs typeface="Roboto"/>
                <a:sym typeface="Roboto"/>
              </a:rPr>
              <a:t/>
            </a:r>
            <a:br>
              <a:rPr lang="en-US" b="false" i="false" strike="noStrike" u="none" sz="1300">
                <a:solidFill>
                  <a:srgbClr val="D1D5DB"/>
                </a:solidFill>
                <a:latin typeface="Roboto"/>
                <a:ea typeface="Roboto"/>
                <a:cs typeface="Roboto"/>
                <a:sym typeface="Roboto"/>
              </a:rPr>
            </a:br>
            <a:r>
              <a:rPr lang="en-US" b="false" i="false" strike="noStrike" u="none" sz="1300">
                <a:solidFill>
                  <a:srgbClr val="D1D5DB"/>
                </a:solidFill>
                <a:latin typeface="Roboto"/>
                <a:ea typeface="Roboto"/>
                <a:cs typeface="Roboto"/>
                <a:sym typeface="Roboto"/>
              </a:rPr>
              <a:t>3. Traverse adjacent nodesvand updatedist[v]andparent[v].</a:t>
            </a:r>
            <a:r>
              <a:rPr lang="en-US" b="false" i="false" strike="noStrike" u="none" sz="1300">
                <a:solidFill>
                  <a:srgbClr val="D1D5DB"/>
                </a:solidFill>
                <a:latin typeface="Roboto"/>
                <a:ea typeface="Roboto"/>
                <a:cs typeface="Roboto"/>
                <a:sym typeface="Roboto"/>
              </a:rPr>
              <a:t/>
            </a:r>
            <a:br>
              <a:rPr lang="en-US" b="false" i="false" strike="noStrike" u="none" sz="1300">
                <a:solidFill>
                  <a:srgbClr val="D1D5DB"/>
                </a:solidFill>
                <a:latin typeface="Roboto"/>
                <a:ea typeface="Roboto"/>
                <a:cs typeface="Roboto"/>
                <a:sym typeface="Roboto"/>
              </a:rPr>
            </a:br>
            <a:r>
              <a:rPr lang="en-US" b="false" i="false" strike="noStrike" u="none" sz="1300">
                <a:solidFill>
                  <a:srgbClr val="D1D5DB"/>
                </a:solidFill>
                <a:latin typeface="Roboto"/>
                <a:ea typeface="Roboto"/>
                <a:cs typeface="Roboto"/>
                <a:sym typeface="Roboto"/>
              </a:rPr>
              <a:t>4. Repeat until all nodes are traversed or the destination is found.</a:t>
            </a:r>
            <a:endParaRPr lang="en-US" sz="1100"/>
          </a:p>
        </p:txBody>
      </p:sp>
      <p:sp>
        <p:nvSpPr>
          <p:cNvPr name="AutoShape 20" id="20"/>
          <p:cNvSpPr/>
          <p:nvPr/>
        </p:nvSpPr>
        <p:spPr>
          <a:xfrm rot="0" flipH="false" flipV="false">
            <a:off x="1016000" y="2032000"/>
            <a:ext cx="9906000" cy="5588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E5E7EB"/>
                </a:solidFill>
                <a:latin typeface="Roboto"/>
                <a:ea typeface="Roboto"/>
                <a:cs typeface="Roboto"/>
                <a:sym typeface="Roboto"/>
              </a:rPr>
              <a:t>The core of the program is to find the "optimal" path, which falls under the category of the</a:t>
            </a:r>
            <a:r>
              <a:rPr lang="en-US" b="true" i="false" strike="noStrike" u="none" sz="1400">
                <a:solidFill>
                  <a:srgbClr val="E5E7EB"/>
                </a:solidFill>
                <a:latin typeface="Roboto"/>
                <a:ea typeface="Roboto"/>
                <a:cs typeface="Roboto"/>
                <a:sym typeface="Roboto"/>
              </a:rPr>
              <a:t>single-source shortest path problem</a:t>
            </a:r>
            <a:r>
              <a:rPr lang="en-US" b="false" i="false" strike="noStrike" u="none" sz="1400">
                <a:solidFill>
                  <a:srgbClr val="E5E7EB"/>
                </a:solidFill>
                <a:latin typeface="Roboto"/>
                <a:ea typeface="Roboto"/>
                <a:cs typeface="Roboto"/>
                <a:sym typeface="Roboto"/>
              </a:rPr>
              <a:t>in graph theory. We have adapted the classic</a:t>
            </a:r>
            <a:r>
              <a:rPr lang="en-US" b="true" i="false" strike="noStrike" u="none" sz="1400">
                <a:solidFill>
                  <a:srgbClr val="E5E7EB"/>
                </a:solidFill>
                <a:latin typeface="Roboto"/>
                <a:ea typeface="Roboto"/>
                <a:cs typeface="Roboto"/>
                <a:sym typeface="Roboto"/>
              </a:rPr>
              <a:t>Dijkstra's algorithm</a:t>
            </a:r>
            <a:r>
              <a:rPr lang="en-US" b="false" i="false" strike="noStrike" u="none" sz="1400">
                <a:solidFill>
                  <a:srgbClr val="E5E7EB"/>
                </a:solidFill>
                <a:latin typeface="Roboto"/>
                <a:ea typeface="Roboto"/>
                <a:cs typeface="Roboto"/>
                <a:sym typeface="Roboto"/>
              </a:rPr>
              <a:t>.</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alphaModFix amt="30000"/>
          </a:blip>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1016000" y="762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Poppins"/>
                <a:ea typeface="Poppins"/>
                <a:cs typeface="Poppins"/>
                <a:sym typeface="Poppins"/>
              </a:rPr>
              <a:t>Result Demonstration</a:t>
            </a:r>
            <a:endParaRPr lang="en-US" sz="1100"/>
          </a:p>
        </p:txBody>
      </p:sp>
      <p:cxnSp>
        <p:nvCxnSpPr>
          <p:cNvPr name="Connector 4" id="4"/>
          <p:cNvCxnSpPr/>
          <p:nvPr/>
        </p:nvCxnSpPr>
        <p:spPr>
          <a:xfrm rot="-4297" flipH="false" flipV="false">
            <a:off x="1016004" y="1454150"/>
            <a:ext cx="101600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sp>
        <p:nvSpPr>
          <p:cNvPr name="AutoShape 5" id="5"/>
          <p:cNvSpPr/>
          <p:nvPr/>
        </p:nvSpPr>
        <p:spPr>
          <a:xfrm rot="0" flipH="false" flipV="false">
            <a:off x="1016000" y="1651000"/>
            <a:ext cx="10160000" cy="4064000"/>
          </a:xfrm>
          <a:prstGeom prst="roundRect">
            <a:avLst>
              <a:gd name="adj" fmla="val 2500"/>
            </a:avLst>
          </a:prstGeom>
          <a:solidFill>
            <a:srgbClr val="000000">
              <a:alpha val="40000"/>
            </a:srgbClr>
          </a:solidFill>
          <a:ln w="12700" cmpd="sng" cap="flat">
            <a:solidFill>
              <a:srgbClr val="00BFFF">
                <a:alpha val="100000"/>
              </a:srgbClr>
            </a:solidFill>
            <a:prstDash val="solid"/>
            <a:round/>
          </a:ln>
        </p:spPr>
        <p:txBody>
          <a:bodyPr anchor="ctr" rtlCol="false" anchorCtr="false" vert="horz" wrap="square" lIns="0" rIns="0" tIns="0" bIns="0"/>
          <a:lstStyle/>
          <a:p>
            <a:pPr algn="ctr">
              <a:defRPr/>
            </a:pPr>
            <a:endParaRPr/>
          </a:p>
        </p:txBody>
      </p:sp>
      <p:sp>
        <p:nvSpPr>
          <p:cNvPr name="AutoShape 6" id="6"/>
          <p:cNvSpPr/>
          <p:nvPr/>
        </p:nvSpPr>
        <p:spPr>
          <a:xfrm rot="0" flipH="false" flipV="false">
            <a:off x="1270000" y="1905000"/>
            <a:ext cx="9652000" cy="3556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E5E7EB"/>
                </a:solidFill>
                <a:latin typeface="Roboto Mono"/>
                <a:ea typeface="Roboto Mono"/>
                <a:cs typeface="Roboto Mono"/>
                <a:sym typeface="Roboto Mono"/>
              </a:rPr>
              <a:t>######## Travel Information Advisor System ########</a:t>
            </a:r>
            <a:r>
              <a:rPr lang="en-US" b="false" i="false" strike="noStrike" u="none" sz="1400">
                <a:solidFill>
                  <a:srgbClr val="E5E7EB"/>
                </a:solidFill>
                <a:latin typeface="Roboto Mono"/>
                <a:ea typeface="Roboto Mono"/>
                <a:cs typeface="Roboto Mono"/>
                <a:sym typeface="Roboto Mono"/>
              </a:rPr>
              <a:t/>
            </a:r>
            <a:endParaRPr lang="en-US" sz="1100"/>
          </a:p>
          <a:p>
            <a:pPr algn="l" indent="0">
              <a:lnSpc>
                <a:spcPct val="125000"/>
              </a:lnSpc>
            </a:pPr>
            <a:r>
              <a:rPr lang="en-US" b="false" i="false" strike="noStrike" u="none" sz="1400">
                <a:solidFill>
                  <a:srgbClr val="E5E7EB"/>
                </a:solidFill>
                <a:latin typeface="Roboto Mono"/>
                <a:ea typeface="Roboto Mono"/>
                <a:cs typeface="Roboto Mono"/>
                <a:sym typeface="Roboto Mono"/>
              </a:rPr>
              <a:t>Currently available cities: Beijing, Shanghai, Xi'an, Chengdu, Guangzhou</a:t>
            </a:r>
            <a:r>
              <a:rPr lang="en-US" b="false" i="false" strike="noStrike" u="none" sz="1400">
                <a:solidFill>
                  <a:srgbClr val="E5E7EB"/>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Please enter the departure city: Beijing</a:t>
            </a:r>
            <a:r>
              <a:rPr lang="en-US" b="false" i="false" strike="noStrike" u="none" sz="1400">
                <a:solidFill>
                  <a:srgbClr val="E5E7EB"/>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Please enter the destination city: Guangzhou</a:t>
            </a:r>
            <a:r>
              <a:rPr lang="en-US" b="false" i="false" strike="noStrike" u="none" sz="1400">
                <a:solidFill>
                  <a:srgbClr val="E5E7EB"/>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Please select your preference:</a:t>
            </a:r>
            <a:r>
              <a:rPr lang="en-US" b="false" i="false" strike="noStrike" u="none" sz="1400">
                <a:solidFill>
                  <a:srgbClr val="E5E7EB"/>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1. Shortest travel time</a:t>
            </a:r>
            <a:r>
              <a:rPr lang="en-US" b="false" i="false" strike="noStrike" u="none" sz="1400">
                <a:solidFill>
                  <a:srgbClr val="E5E7EB"/>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2. Lowest travel cost</a:t>
            </a:r>
            <a:r>
              <a:rPr lang="en-US" b="false" i="false" strike="noStrike" u="none" sz="1400">
                <a:solidFill>
                  <a:srgbClr val="E5E7EB"/>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3. Fewest transfers</a:t>
            </a:r>
            <a:r>
              <a:rPr lang="en-US" b="false" i="false" strike="noStrike" u="none" sz="1400">
                <a:solidFill>
                  <a:srgbClr val="E5E7EB"/>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0. Exit the system</a:t>
            </a:r>
            <a:r>
              <a:rPr lang="en-US" b="false" i="false" strike="noStrike" u="none" sz="1400">
                <a:solidFill>
                  <a:srgbClr val="E5E7EB"/>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Please enter your option: 2</a:t>
            </a:r>
            <a:r>
              <a:rPr lang="en-US" b="false" i="false" strike="noStrike" u="none" sz="1400">
                <a:solidFill>
                  <a:srgbClr val="E5E7EB"/>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 Recommended Route ================</a:t>
            </a:r>
            <a:r>
              <a:rPr lang="en-US" b="false" i="false" strike="noStrike" u="none" sz="1400">
                <a:solidFill>
                  <a:srgbClr val="E5E7EB"/>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Departure: Beijing Destination: Guangzhou</a:t>
            </a:r>
            <a:r>
              <a:rPr lang="en-US" b="false" i="false" strike="noStrike" u="none" sz="1400">
                <a:solidFill>
                  <a:srgbClr val="E5E7EB"/>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Strategy: Lowest Cost</a:t>
            </a:r>
            <a:r>
              <a:rPr lang="en-US" b="false" i="false" strike="noStrike" u="none" sz="1400">
                <a:solidFill>
                  <a:srgbClr val="E5E7EB"/>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Route details: Beijing -&gt; Xi'an -&gt; Chengdu -&gt; Guangzhou</a:t>
            </a:r>
            <a:r>
              <a:rPr lang="en-US" b="false" i="false" strike="noStrike" u="none" sz="1400">
                <a:solidFill>
                  <a:srgbClr val="E5E7EB"/>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Statistics:</a:t>
            </a:r>
            <a:r>
              <a:rPr lang="en-US" b="false" i="false" strike="noStrike" u="none" sz="1400">
                <a:solidFill>
                  <a:srgbClr val="E5E7EB"/>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Total cost:</a:t>
            </a:r>
            <a:r>
              <a:rPr lang="en-US" b="true" i="false" strike="noStrike" u="none" sz="1400">
                <a:solidFill>
                  <a:srgbClr val="00BFFF"/>
                </a:solidFill>
                <a:latin typeface="Roboto Mono"/>
                <a:ea typeface="Roboto Mono"/>
                <a:cs typeface="Roboto Mono"/>
                <a:sym typeface="Roboto Mono"/>
              </a:rPr>
              <a:t>1000 Yuan</a:t>
            </a:r>
            <a:r>
              <a:rPr lang="en-US" b="false" i="false" strike="noStrike" u="none" sz="1400">
                <a:solidFill>
                  <a:srgbClr val="E5E7EB"/>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Total time:</a:t>
            </a:r>
            <a:r>
              <a:rPr lang="en-US" b="true" i="false" strike="noStrike" u="none" sz="1400">
                <a:solidFill>
                  <a:srgbClr val="00BFFF"/>
                </a:solidFill>
                <a:latin typeface="Roboto Mono"/>
                <a:ea typeface="Roboto Mono"/>
                <a:cs typeface="Roboto Mono"/>
                <a:sym typeface="Roboto Mono"/>
              </a:rPr>
              <a:t>20 hours</a:t>
            </a:r>
            <a:r>
              <a:rPr lang="en-US" b="false" i="false" strike="noStrike" u="none" sz="1400">
                <a:solidFill>
                  <a:srgbClr val="E5E7EB"/>
                </a:solidFill>
                <a:latin typeface="Roboto Mono"/>
                <a:ea typeface="Roboto Mono"/>
                <a:cs typeface="Roboto Mono"/>
                <a:sym typeface="Roboto Mono"/>
              </a:rPr>
              <a:t/>
            </a:r>
          </a:p>
          <a:p>
            <a:pPr algn="l" indent="0">
              <a:lnSpc>
                <a:spcPct val="125000"/>
              </a:lnSpc>
            </a:pPr>
            <a:r>
              <a:rPr lang="en-US" b="false" i="false" strike="noStrike" u="none" sz="1400">
                <a:solidFill>
                  <a:srgbClr val="E5E7EB"/>
                </a:solidFill>
                <a:latin typeface="Roboto Mono"/>
                <a:ea typeface="Roboto Mono"/>
                <a:cs typeface="Roboto Mono"/>
                <a:sym typeface="Roboto Mono"/>
              </a:rPr>
              <a:t>Number of transfers:</a:t>
            </a:r>
            <a:r>
              <a:rPr lang="en-US" b="true" i="false" strike="noStrike" u="none" sz="1400">
                <a:solidFill>
                  <a:srgbClr val="00BFFF"/>
                </a:solidFill>
                <a:latin typeface="Roboto Mono"/>
                <a:ea typeface="Roboto Mono"/>
                <a:cs typeface="Roboto Mono"/>
                <a:sym typeface="Roboto Mono"/>
              </a:rPr>
              <a:t>2 (Number of rides: 3)</a:t>
            </a: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5334000"/>
            <a:ext cx="254000" cy="254000"/>
          </a:xfrm>
          <a:prstGeom prst="rect">
            <a:avLst/>
          </a:prstGeom>
        </p:spPr>
      </p:pic>
      <p:sp>
        <p:nvSpPr>
          <p:cNvPr name="AutoShape 8" id="8"/>
          <p:cNvSpPr/>
          <p:nvPr/>
        </p:nvSpPr>
        <p:spPr>
          <a:xfrm rot="0" flipH="false" flipV="false">
            <a:off x="1397000" y="5270500"/>
            <a:ext cx="965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Roboto"/>
                <a:ea typeface="Roboto"/>
                <a:cs typeface="Roboto"/>
                <a:sym typeface="Roboto"/>
              </a:rPr>
              <a:t>Analysis:</a:t>
            </a:r>
            <a:r>
              <a:rPr lang="en-US" b="false" i="false" strike="noStrike" u="none" sz="1400">
                <a:solidFill>
                  <a:srgbClr val="E5E7EB"/>
                </a:solidFill>
                <a:latin typeface="Roboto"/>
                <a:ea typeface="Roboto"/>
                <a:cs typeface="Roboto"/>
                <a:sym typeface="Roboto"/>
              </a:rPr>
              <a:t>The system correctly calculates the train route via Xi'an and Chengdu as the lowest-cost option, with a total cost of 1000 Yuan, significantly lower than the direct flight cost of 2000 Yuan.</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11827">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alphaModFix amt="20000"/>
          </a:blip>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1016000" y="762000"/>
            <a:ext cx="762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Poppins"/>
                <a:ea typeface="Poppins"/>
                <a:cs typeface="Poppins"/>
                <a:sym typeface="Poppins"/>
              </a:rPr>
              <a:t>Pros and Cons Analysis</a:t>
            </a:r>
            <a:endParaRPr lang="en-US" sz="1100"/>
          </a:p>
        </p:txBody>
      </p:sp>
      <p:cxnSp>
        <p:nvCxnSpPr>
          <p:cNvPr name="Connector 4" id="4"/>
          <p:cNvCxnSpPr/>
          <p:nvPr/>
        </p:nvCxnSpPr>
        <p:spPr>
          <a:xfrm rot="-4297" flipH="false" flipV="false">
            <a:off x="1016004" y="1454150"/>
            <a:ext cx="10160000" cy="12700"/>
          </a:xfrm>
          <a:prstGeom prst="straightConnector1">
            <a:avLst/>
          </a:prstGeom>
          <a:solidFill>
            <a:srgbClr val="DEE0E3">
              <a:alpha val="100000"/>
            </a:srgbClr>
          </a:solidFill>
          <a:ln w="12700" cmpd="sng" cap="flat">
            <a:solidFill>
              <a:srgbClr val="00BFFF">
                <a:alpha val="30000"/>
              </a:srgbClr>
            </a:solidFill>
            <a:prstDash val="solid"/>
            <a:round/>
            <a:headEnd type="none" w="med" len="med"/>
            <a:tailEnd type="none" w="med" len="med"/>
          </a:ln>
        </p:spPr>
      </p:cxn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304800" cy="304800"/>
          </a:xfrm>
          <a:prstGeom prst="rect">
            <a:avLst/>
          </a:prstGeom>
        </p:spPr>
      </p:pic>
      <p:sp>
        <p:nvSpPr>
          <p:cNvPr name="AutoShape 6" id="6"/>
          <p:cNvSpPr/>
          <p:nvPr/>
        </p:nvSpPr>
        <p:spPr>
          <a:xfrm rot="0" flipH="false" flipV="false">
            <a:off x="1447800" y="1917700"/>
            <a:ext cx="4445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Roboto"/>
                <a:ea typeface="Roboto"/>
                <a:cs typeface="Roboto"/>
                <a:sym typeface="Roboto"/>
              </a:rPr>
              <a:t>Advantages</a:t>
            </a:r>
            <a:endParaRPr lang="en-US" sz="1100"/>
          </a:p>
        </p:txBody>
      </p:sp>
      <p:pic>
        <p:nvPicPr>
          <p:cNvPr name="Picture 7" id="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603500"/>
            <a:ext cx="228600" cy="228600"/>
          </a:xfrm>
          <a:prstGeom prst="rect">
            <a:avLst/>
          </a:prstGeom>
        </p:spPr>
      </p:pic>
      <p:sp>
        <p:nvSpPr>
          <p:cNvPr name="AutoShape 8" id="8"/>
          <p:cNvSpPr/>
          <p:nvPr/>
        </p:nvSpPr>
        <p:spPr>
          <a:xfrm rot="0" flipH="false" flipV="false">
            <a:off x="1397000" y="26035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Roboto"/>
                <a:ea typeface="Roboto"/>
                <a:cs typeface="Roboto"/>
                <a:sym typeface="Roboto"/>
              </a:rPr>
              <a:t>Strong Versatility</a:t>
            </a:r>
            <a:endParaRPr lang="en-US" sz="1100"/>
          </a:p>
        </p:txBody>
      </p:sp>
      <p:sp>
        <p:nvSpPr>
          <p:cNvPr name="AutoShape 9" id="9"/>
          <p:cNvSpPr/>
          <p:nvPr/>
        </p:nvSpPr>
        <p:spPr>
          <a:xfrm rot="0" flipH="false" flipV="false">
            <a:off x="1397000" y="2984500"/>
            <a:ext cx="457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E5E7EB"/>
                </a:solidFill>
                <a:latin typeface="Roboto"/>
                <a:ea typeface="Roboto"/>
                <a:cs typeface="Roboto"/>
                <a:sym typeface="Roboto"/>
              </a:rPr>
              <a:t>By abstracting the concept of weight, a single algorithm solves problems in three dimensions: time, cost, and hops, resulting in high code reusability.</a:t>
            </a:r>
            <a:endParaRPr lang="en-US" sz="1100"/>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746500"/>
            <a:ext cx="228600" cy="228600"/>
          </a:xfrm>
          <a:prstGeom prst="rect">
            <a:avLst/>
          </a:prstGeom>
        </p:spPr>
      </p:pic>
      <p:sp>
        <p:nvSpPr>
          <p:cNvPr name="AutoShape 11" id="11"/>
          <p:cNvSpPr/>
          <p:nvPr/>
        </p:nvSpPr>
        <p:spPr>
          <a:xfrm rot="0" flipH="false" flipV="false">
            <a:off x="1397000" y="37465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Roboto"/>
                <a:ea typeface="Roboto"/>
                <a:cs typeface="Roboto"/>
                <a:sym typeface="Roboto"/>
              </a:rPr>
              <a:t>Good Scalability</a:t>
            </a:r>
            <a:endParaRPr lang="en-US" sz="1100"/>
          </a:p>
        </p:txBody>
      </p:sp>
      <p:sp>
        <p:nvSpPr>
          <p:cNvPr name="AutoShape 12" id="12"/>
          <p:cNvSpPr/>
          <p:nvPr/>
        </p:nvSpPr>
        <p:spPr>
          <a:xfrm rot="0" flipH="false" flipV="false">
            <a:off x="1397000" y="4127500"/>
            <a:ext cx="457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E5E7EB"/>
                </a:solidFill>
                <a:latin typeface="Roboto"/>
                <a:ea typeface="Roboto"/>
                <a:cs typeface="Roboto"/>
                <a:sym typeface="Roboto"/>
              </a:rPr>
              <a:t>To add new preferences (e.g., "most comfortable"), simply add fields to the structure and modify the weight logic.</a:t>
            </a:r>
            <a:endParaRPr lang="en-US" sz="1100"/>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4889500"/>
            <a:ext cx="228600" cy="228600"/>
          </a:xfrm>
          <a:prstGeom prst="rect">
            <a:avLst/>
          </a:prstGeom>
        </p:spPr>
      </p:pic>
      <p:sp>
        <p:nvSpPr>
          <p:cNvPr name="AutoShape 14" id="14"/>
          <p:cNvSpPr/>
          <p:nvPr/>
        </p:nvSpPr>
        <p:spPr>
          <a:xfrm rot="0" flipH="false" flipV="false">
            <a:off x="1397000" y="48895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Roboto"/>
                <a:ea typeface="Roboto"/>
                <a:cs typeface="Roboto"/>
                <a:sym typeface="Roboto"/>
              </a:rPr>
              <a:t>High Accuracy</a:t>
            </a:r>
            <a:endParaRPr lang="en-US" sz="1100"/>
          </a:p>
        </p:txBody>
      </p:sp>
      <p:sp>
        <p:nvSpPr>
          <p:cNvPr name="AutoShape 15" id="15"/>
          <p:cNvSpPr/>
          <p:nvPr/>
        </p:nvSpPr>
        <p:spPr>
          <a:xfrm rot="0" flipH="false" flipV="false">
            <a:off x="1397000" y="5270500"/>
            <a:ext cx="457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E5E7EB"/>
                </a:solidFill>
                <a:latin typeface="Roboto"/>
                <a:ea typeface="Roboto"/>
                <a:cs typeface="Roboto"/>
                <a:sym typeface="Roboto"/>
              </a:rPr>
              <a:t>Dijkstra's algorithm guarantees finding the absolute optimal solution in graphs with non-negative edge weights.</a:t>
            </a:r>
            <a:endParaRPr lang="en-US" sz="1100"/>
          </a:p>
        </p:txBody>
      </p:sp>
      <p:cxnSp>
        <p:nvCxnSpPr>
          <p:cNvPr name="Connector 16" id="16"/>
          <p:cNvCxnSpPr/>
          <p:nvPr/>
        </p:nvCxnSpPr>
        <p:spPr>
          <a:xfrm rot="5388540" flipH="false" flipV="false">
            <a:off x="4191000" y="3803661"/>
            <a:ext cx="3810000" cy="12700"/>
          </a:xfrm>
          <a:prstGeom prst="straightConnector1">
            <a:avLst/>
          </a:prstGeom>
          <a:solidFill>
            <a:srgbClr val="DEE0E3">
              <a:alpha val="100000"/>
            </a:srgbClr>
          </a:solidFill>
          <a:ln w="12700" cmpd="sng" cap="flat">
            <a:solidFill>
              <a:srgbClr val="FFFFFF">
                <a:alpha val="20000"/>
              </a:srgbClr>
            </a:solidFill>
            <a:prstDash val="dash"/>
            <a:round/>
            <a:headEnd type="none" w="med" len="med"/>
            <a:tailEnd type="none" w="med" len="med"/>
          </a:ln>
        </p:spPr>
      </p:cxn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604000" y="1905000"/>
            <a:ext cx="304800" cy="304800"/>
          </a:xfrm>
          <a:prstGeom prst="rect">
            <a:avLst/>
          </a:prstGeom>
        </p:spPr>
      </p:pic>
      <p:sp>
        <p:nvSpPr>
          <p:cNvPr name="AutoShape 18" id="18"/>
          <p:cNvSpPr/>
          <p:nvPr/>
        </p:nvSpPr>
        <p:spPr>
          <a:xfrm rot="0" flipH="false" flipV="false">
            <a:off x="7035800" y="1917700"/>
            <a:ext cx="4445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Roboto"/>
                <a:ea typeface="Roboto"/>
                <a:cs typeface="Roboto"/>
                <a:sym typeface="Roboto"/>
              </a:rPr>
              <a:t>Limitations</a:t>
            </a:r>
            <a:endParaRPr lang="en-US" sz="1100"/>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04000" y="2603500"/>
            <a:ext cx="228600" cy="228600"/>
          </a:xfrm>
          <a:prstGeom prst="rect">
            <a:avLst/>
          </a:prstGeom>
        </p:spPr>
      </p:pic>
      <p:sp>
        <p:nvSpPr>
          <p:cNvPr name="AutoShape 20" id="20"/>
          <p:cNvSpPr/>
          <p:nvPr/>
        </p:nvSpPr>
        <p:spPr>
          <a:xfrm rot="0" flipH="false" flipV="false">
            <a:off x="6985000" y="26035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Roboto"/>
                <a:ea typeface="Roboto"/>
                <a:cs typeface="Roboto"/>
                <a:sym typeface="Roboto"/>
              </a:rPr>
              <a:t>Does not handle multiple edges</a:t>
            </a:r>
            <a:endParaRPr lang="en-US" sz="1100"/>
          </a:p>
        </p:txBody>
      </p:sp>
      <p:sp>
        <p:nvSpPr>
          <p:cNvPr name="AutoShape 21" id="21"/>
          <p:cNvSpPr/>
          <p:nvPr/>
        </p:nvSpPr>
        <p:spPr>
          <a:xfrm rot="0" flipH="false" flipV="false">
            <a:off x="6985000" y="2984500"/>
            <a:ext cx="457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E5E7EB"/>
                </a:solidFill>
                <a:latin typeface="Roboto"/>
                <a:ea typeface="Roboto"/>
                <a:cs typeface="Roboto"/>
                <a:sym typeface="Roboto"/>
              </a:rPr>
              <a:t>The adjacency matrix can only store one edge between two cities and cannot represent multiple transportation modes (e.g., high-speed rail and airplane).</a:t>
            </a:r>
            <a:endParaRPr lang="en-US" sz="1100"/>
          </a:p>
        </p:txBody>
      </p:sp>
      <p:pic>
        <p:nvPicPr>
          <p:cNvPr name="Picture 22" id="22"/>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04000" y="3746500"/>
            <a:ext cx="228600" cy="228600"/>
          </a:xfrm>
          <a:prstGeom prst="rect">
            <a:avLst/>
          </a:prstGeom>
        </p:spPr>
      </p:pic>
      <p:sp>
        <p:nvSpPr>
          <p:cNvPr name="AutoShape 23" id="23"/>
          <p:cNvSpPr/>
          <p:nvPr/>
        </p:nvSpPr>
        <p:spPr>
          <a:xfrm rot="0" flipH="false" flipV="false">
            <a:off x="6985000" y="37465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Roboto"/>
                <a:ea typeface="Roboto"/>
                <a:cs typeface="Roboto"/>
                <a:sym typeface="Roboto"/>
              </a:rPr>
              <a:t>Ignores transfer waiting time</a:t>
            </a:r>
            <a:endParaRPr lang="en-US" sz="1100"/>
          </a:p>
        </p:txBody>
      </p:sp>
      <p:sp>
        <p:nvSpPr>
          <p:cNvPr name="AutoShape 24" id="24"/>
          <p:cNvSpPr/>
          <p:nvPr/>
        </p:nvSpPr>
        <p:spPr>
          <a:xfrm rot="0" flipH="false" flipV="false">
            <a:off x="6985000" y="4127500"/>
            <a:ext cx="457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E5E7EB"/>
                </a:solidFill>
                <a:latin typeface="Roboto"/>
                <a:ea typeface="Roboto"/>
                <a:cs typeface="Roboto"/>
                <a:sym typeface="Roboto"/>
              </a:rPr>
              <a:t>Only calculates travel time and does not include waiting time during transfers, which differs from real-world scenarios.</a:t>
            </a:r>
            <a:endParaRPr lang="en-US" sz="1100"/>
          </a:p>
        </p:txBody>
      </p:sp>
      <p:pic>
        <p:nvPicPr>
          <p:cNvPr name="Picture 25" id="25"/>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604000" y="4889500"/>
            <a:ext cx="228600" cy="228600"/>
          </a:xfrm>
          <a:prstGeom prst="rect">
            <a:avLst/>
          </a:prstGeom>
        </p:spPr>
      </p:pic>
      <p:sp>
        <p:nvSpPr>
          <p:cNvPr name="AutoShape 26" id="26"/>
          <p:cNvSpPr/>
          <p:nvPr/>
        </p:nvSpPr>
        <p:spPr>
          <a:xfrm rot="0" flipH="false" flipV="false">
            <a:off x="6985000" y="4889500"/>
            <a:ext cx="457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Roboto"/>
                <a:ea typeface="Roboto"/>
                <a:cs typeface="Roboto"/>
                <a:sym typeface="Roboto"/>
              </a:rPr>
              <a:t>Relies on static data</a:t>
            </a:r>
            <a:endParaRPr lang="en-US" sz="1100"/>
          </a:p>
        </p:txBody>
      </p:sp>
      <p:sp>
        <p:nvSpPr>
          <p:cNvPr name="AutoShape 27" id="27"/>
          <p:cNvSpPr/>
          <p:nvPr/>
        </p:nvSpPr>
        <p:spPr>
          <a:xfrm rot="0" flipH="false" flipV="false">
            <a:off x="6985000" y="5270500"/>
            <a:ext cx="4572000" cy="762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400">
                <a:solidFill>
                  <a:srgbClr val="E5E7EB"/>
                </a:solidFill>
                <a:latin typeface="Roboto"/>
                <a:ea typeface="Roboto"/>
                <a:cs typeface="Roboto"/>
                <a:sym typeface="Roboto"/>
              </a:rPr>
              <a:t>All route information is hard-coded and cannot be updated in real-time, lacking flexibility.</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0F19">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794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FFFFFF"/>
                </a:solidFill>
                <a:latin typeface="Noto Sans SC"/>
                <a:ea typeface="Noto Sans SC"/>
                <a:cs typeface="Noto Sans SC"/>
                <a:sym typeface="Noto Sans SC"/>
              </a:rPr>
              <a:t>Thank You</a:t>
            </a:r>
            <a:endParaRPr lang="en-US" sz="1100"/>
          </a:p>
        </p:txBody>
      </p:sp>
      <p:sp>
        <p:nvSpPr>
          <p:cNvPr name="AutoShape 5" id="5"/>
          <p:cNvSpPr/>
          <p:nvPr/>
        </p:nvSpPr>
        <p:spPr>
          <a:xfrm rot="0" flipH="false" flipV="false">
            <a:off x="5461000" y="3746500"/>
            <a:ext cx="1270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4000500"/>
            <a:ext cx="1016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D1D5DB"/>
                </a:solidFill>
                <a:latin typeface="Noto Sans SC"/>
                <a:ea typeface="Noto Sans SC"/>
                <a:cs typeface="Noto Sans SC"/>
                <a:sym typeface="Noto Sans SC"/>
              </a:rPr>
              <a:t>THANK YOU</a:t>
            </a:r>
            <a:endParaRPr lang="en-US" sz="1100"/>
          </a:p>
        </p:txBody>
      </p:sp>
      <p:pic>
        <p:nvPicPr>
          <p:cNvPr name="Picture 7" id="7"/>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